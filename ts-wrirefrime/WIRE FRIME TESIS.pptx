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71" r:id="rId6"/>
    <p:sldId id="272" r:id="rId7"/>
    <p:sldId id="263" r:id="rId8"/>
    <p:sldId id="266" r:id="rId9"/>
    <p:sldId id="273" r:id="rId10"/>
    <p:sldId id="274" r:id="rId11"/>
    <p:sldId id="275" r:id="rId12"/>
    <p:sldId id="276" r:id="rId13"/>
    <p:sldId id="278" r:id="rId14"/>
    <p:sldId id="277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7" r:id="rId23"/>
    <p:sldId id="286" r:id="rId24"/>
    <p:sldId id="290" r:id="rId25"/>
    <p:sldId id="288" r:id="rId26"/>
    <p:sldId id="292" r:id="rId27"/>
    <p:sldId id="291" r:id="rId28"/>
    <p:sldId id="289" r:id="rId2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5" autoAdjust="0"/>
    <p:restoredTop sz="94660"/>
  </p:normalViewPr>
  <p:slideViewPr>
    <p:cSldViewPr snapToGrid="0">
      <p:cViewPr>
        <p:scale>
          <a:sx n="66" d="100"/>
          <a:sy n="66" d="100"/>
        </p:scale>
        <p:origin x="1286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84C23-BDE7-2FB0-EF99-17F5B78D4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E3AB43-1FC2-3FDF-FD4E-5E4BEAC8C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B327AC-6D8E-E8D7-3734-C757F7537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FEA3-37E6-43CB-A853-3B1BB0CDF034}" type="datetimeFigureOut">
              <a:rPr lang="es-PE" smtClean="0"/>
              <a:t>23/01/2025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D06D98-CE4C-538B-235C-6D844971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B1F820-BD9D-EEA8-D3C0-DF311DE89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EECD3-AAD0-403C-B718-BD650568E17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0903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6788A-458D-DAAA-2766-CAA7A178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3AA1E4-E400-79C9-F748-65D8FBBE9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662A35-BD7B-19B0-8443-D7EE9405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FEA3-37E6-43CB-A853-3B1BB0CDF034}" type="datetimeFigureOut">
              <a:rPr lang="es-PE" smtClean="0"/>
              <a:t>23/01/2025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0C0B4A-B84B-719D-0D3A-97A695D5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6F3C4-9DA6-FC6B-8392-C752A7933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EECD3-AAD0-403C-B718-BD650568E17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724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2E4C7-BBCE-828D-BE42-FEB8477D6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EA7FC6-1583-8160-EC9B-5F3123DAB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59509D-17CC-0ED5-6600-92948C14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FEA3-37E6-43CB-A853-3B1BB0CDF034}" type="datetimeFigureOut">
              <a:rPr lang="es-PE" smtClean="0"/>
              <a:t>23/01/2025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48E013-DB94-2187-6925-92D0DC7D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6F1F48-43F2-4874-B112-17005F30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EECD3-AAD0-403C-B718-BD650568E17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0227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60E0D-3031-9E17-A478-DA3EA5F27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B9B2C4-7652-64AB-5CE4-0FBBEA9A4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C57254-CE9E-1A44-1FDD-92535D58B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9660B1-8D66-DA6F-6D01-3D4ECB03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FEA3-37E6-43CB-A853-3B1BB0CDF034}" type="datetimeFigureOut">
              <a:rPr lang="es-PE" smtClean="0"/>
              <a:t>23/01/2025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8A82DE-2F1E-2199-BB8F-7C7C500C9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31194D-7ECC-49E2-4B06-63376762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EECD3-AAD0-403C-B718-BD650568E17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404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6A2F4F-3ADA-C11F-EA1B-567ED34B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AD5F01-25B9-95D7-7BAD-317E48110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A85DEE-B7FE-44CC-9FE6-6CB5A94D8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BE2443D-2A35-F8C6-A23E-2A0345C9C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8A4DCEB-DDF3-434A-258C-665DE0AF55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504B36-0784-347C-18E9-C173875D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FEA3-37E6-43CB-A853-3B1BB0CDF034}" type="datetimeFigureOut">
              <a:rPr lang="es-PE" smtClean="0"/>
              <a:t>23/01/2025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C6264C9-B44D-B71A-B7B9-D1E65EA2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55ABD7-7AEB-BCC3-F236-7D790971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EECD3-AAD0-403C-B718-BD650568E17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3300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DAC01-7EC1-CEDF-3334-D35F89FC3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96999DA-94D3-D790-6735-7E068156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FEA3-37E6-43CB-A853-3B1BB0CDF034}" type="datetimeFigureOut">
              <a:rPr lang="es-PE" smtClean="0"/>
              <a:t>23/01/2025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9EEA3EC-9727-0977-9989-2B2DFA1D0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726BACD-4F0F-C55F-D354-8EEA30064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EECD3-AAD0-403C-B718-BD650568E17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99046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A6586D-FC75-500F-6919-36554779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FEA3-37E6-43CB-A853-3B1BB0CDF034}" type="datetimeFigureOut">
              <a:rPr lang="es-PE" smtClean="0"/>
              <a:t>23/01/2025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7C6E883-2AD0-A8B3-C014-173089CBE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54CD21-1985-1B72-118C-95C244E1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EECD3-AAD0-403C-B718-BD650568E17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467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858DB-FE7F-C01F-E355-8ACA508A4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3CF5B8-3E0F-BE56-BAD0-31BD90E96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FA054E-F732-13CD-FA53-E12E4E10E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A7643D-D5B1-A60B-0417-F111DA2A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FEA3-37E6-43CB-A853-3B1BB0CDF034}" type="datetimeFigureOut">
              <a:rPr lang="es-PE" smtClean="0"/>
              <a:t>23/01/2025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A3AEEA-E69B-13DE-99F2-3F855E95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83A9C5-B1F9-D797-E647-EB9A2119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EECD3-AAD0-403C-B718-BD650568E17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27317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73C95-5BE6-BE11-BE88-7CED3916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E709B9C-89AA-9691-CF95-525E1DB1B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89C4F9-7EF9-7CF0-1F73-D8609F5D5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0E1F3B-6D8C-1B8E-5A15-DEFE2EA1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FEA3-37E6-43CB-A853-3B1BB0CDF034}" type="datetimeFigureOut">
              <a:rPr lang="es-PE" smtClean="0"/>
              <a:t>23/01/2025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E02057-93BE-D6DF-A10F-0CB983F35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A8F41BF-62DC-CC11-B3F2-8574B6B7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EECD3-AAD0-403C-B718-BD650568E17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4617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9105B-85AE-E3DF-81E6-33F736E71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6F2274-1B73-72F5-CAA4-7811986C0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3443D8-AB85-41A0-62A1-EB737B31E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FEA3-37E6-43CB-A853-3B1BB0CDF034}" type="datetimeFigureOut">
              <a:rPr lang="es-PE" smtClean="0"/>
              <a:t>23/01/2025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2F657E-742C-9CFC-02BB-1B0E88DFC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4C9557-1590-D305-F24F-E07564732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EECD3-AAD0-403C-B718-BD650568E17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0772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191060-73FA-421D-F28B-BFFBAD163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B86D7D-F45F-87FD-1334-9EEBE21BB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3765C9-C329-C4DA-6329-AB658016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FEA3-37E6-43CB-A853-3B1BB0CDF034}" type="datetimeFigureOut">
              <a:rPr lang="es-PE" smtClean="0"/>
              <a:t>23/01/2025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07DE5D-419C-FA0C-1EFA-844ACF22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056A90-171F-97C4-BA71-6345D4DE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EECD3-AAD0-403C-B718-BD650568E17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61154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8E7424B-9E8F-FE5D-4300-6B63107CD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8768B-D7A5-68AC-A6C3-128A87E35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7037E8-A2C5-A8D4-935F-F64A69F4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BFEA3-37E6-43CB-A853-3B1BB0CDF034}" type="datetimeFigureOut">
              <a:rPr lang="es-PE" smtClean="0"/>
              <a:t>23/01/2025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3E4F17-C1C4-502F-C6C1-01C8C9283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1250B2-F578-AEC7-9352-5D68AF7F6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EECD3-AAD0-403C-B718-BD650568E17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072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CCAC8EDE-DD4C-2F3D-8219-019EBD6B0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2" t="4610" r="3638" b="6052"/>
          <a:stretch/>
        </p:blipFill>
        <p:spPr>
          <a:xfrm>
            <a:off x="0" y="-87550"/>
            <a:ext cx="12286034" cy="698267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2B4F1055-67BA-AF3A-E533-C2CFCFE28B10}"/>
              </a:ext>
            </a:extLst>
          </p:cNvPr>
          <p:cNvSpPr/>
          <p:nvPr/>
        </p:nvSpPr>
        <p:spPr>
          <a:xfrm>
            <a:off x="107004" y="953312"/>
            <a:ext cx="12084996" cy="58365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A77AEAA-D3B9-1602-0326-8C30B35E10A2}"/>
              </a:ext>
            </a:extLst>
          </p:cNvPr>
          <p:cNvSpPr/>
          <p:nvPr/>
        </p:nvSpPr>
        <p:spPr>
          <a:xfrm>
            <a:off x="4656307" y="2158213"/>
            <a:ext cx="2879386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67BCA39-7982-8600-475E-114B797FEC24}"/>
              </a:ext>
            </a:extLst>
          </p:cNvPr>
          <p:cNvSpPr/>
          <p:nvPr/>
        </p:nvSpPr>
        <p:spPr>
          <a:xfrm>
            <a:off x="4656307" y="2874176"/>
            <a:ext cx="2879386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3B4CA5B-024B-8B5B-932E-4D6ED479F570}"/>
              </a:ext>
            </a:extLst>
          </p:cNvPr>
          <p:cNvSpPr/>
          <p:nvPr/>
        </p:nvSpPr>
        <p:spPr>
          <a:xfrm>
            <a:off x="4656307" y="3793386"/>
            <a:ext cx="2879386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6139AC8-AE0C-72A6-1376-E795E56166E1}"/>
              </a:ext>
            </a:extLst>
          </p:cNvPr>
          <p:cNvSpPr txBox="1"/>
          <p:nvPr/>
        </p:nvSpPr>
        <p:spPr>
          <a:xfrm>
            <a:off x="4710197" y="2261547"/>
            <a:ext cx="11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USUARIO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172248C-8BCE-4F44-E096-7BD3EB04EA60}"/>
              </a:ext>
            </a:extLst>
          </p:cNvPr>
          <p:cNvSpPr txBox="1"/>
          <p:nvPr/>
        </p:nvSpPr>
        <p:spPr>
          <a:xfrm>
            <a:off x="4710197" y="2975856"/>
            <a:ext cx="1618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CONTRASEÑA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F2B0BF2-E198-9EE8-0DCF-DCC1BF6C3237}"/>
              </a:ext>
            </a:extLst>
          </p:cNvPr>
          <p:cNvSpPr txBox="1"/>
          <p:nvPr/>
        </p:nvSpPr>
        <p:spPr>
          <a:xfrm>
            <a:off x="5560771" y="3876485"/>
            <a:ext cx="848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LOGIN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AA4DB95-30EB-11A5-F42D-070C291245FA}"/>
              </a:ext>
            </a:extLst>
          </p:cNvPr>
          <p:cNvSpPr txBox="1"/>
          <p:nvPr/>
        </p:nvSpPr>
        <p:spPr>
          <a:xfrm>
            <a:off x="4826370" y="4477235"/>
            <a:ext cx="23172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dirty="0"/>
              <a:t>RECUPERAR CONTRASEÑA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2602959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685E9-1BD8-47DB-D6EE-20318F70A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B152C77-8CAD-EE38-A7E7-4320947BEAB3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B06560-3D42-3521-3DE6-B8F0F7482790}"/>
              </a:ext>
            </a:extLst>
          </p:cNvPr>
          <p:cNvSpPr>
            <a:spLocks/>
          </p:cNvSpPr>
          <p:nvPr/>
        </p:nvSpPr>
        <p:spPr>
          <a:xfrm>
            <a:off x="4383932" y="4163139"/>
            <a:ext cx="2879386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MANTENIMIENTO DE PROYECTOS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754D667-F1FC-24A1-1165-34028C2648F5}"/>
              </a:ext>
            </a:extLst>
          </p:cNvPr>
          <p:cNvSpPr/>
          <p:nvPr/>
        </p:nvSpPr>
        <p:spPr>
          <a:xfrm>
            <a:off x="4383932" y="1715977"/>
            <a:ext cx="2879386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MANTENIMIENTO DE CLIENTES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7F5FDFA-5FF9-51FD-C9B3-1B7F2F2ECB81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8EA2EF-BC9C-D55B-4A28-FBDD707E0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D86BAE6E-5681-A7DB-B4D9-053DDC0B6D7A}"/>
              </a:ext>
            </a:extLst>
          </p:cNvPr>
          <p:cNvSpPr/>
          <p:nvPr/>
        </p:nvSpPr>
        <p:spPr>
          <a:xfrm>
            <a:off x="4383932" y="3334201"/>
            <a:ext cx="2879386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MANTENIMIENTO DE CONSULTORES</a:t>
            </a:r>
            <a:endParaRPr lang="es-PE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6FB0EAD-842D-491A-FFD7-12BDED3E37C9}"/>
              </a:ext>
            </a:extLst>
          </p:cNvPr>
          <p:cNvSpPr/>
          <p:nvPr/>
        </p:nvSpPr>
        <p:spPr>
          <a:xfrm>
            <a:off x="4383932" y="2542117"/>
            <a:ext cx="2879386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MANTENIMIENTO DE ESCENARIOS</a:t>
            </a:r>
            <a:endParaRPr lang="es-PE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6EF9C58-44FD-BC03-2FC1-CFDA6EE6E46C}"/>
              </a:ext>
            </a:extLst>
          </p:cNvPr>
          <p:cNvSpPr/>
          <p:nvPr/>
        </p:nvSpPr>
        <p:spPr>
          <a:xfrm>
            <a:off x="4390416" y="4952425"/>
            <a:ext cx="2879386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MANT VULNERABILIDADES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9462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D4206-1E36-9C26-9FB3-9261755F7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33FB79E-0C74-4CA5-F5FE-100539B130B4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A1F371F-58F8-6EA4-5517-760696EE144E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861D877-1A3F-2BF3-1CFD-0F8AD4E97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2C44109-852D-A31C-B860-7AA0A766A44E}"/>
              </a:ext>
            </a:extLst>
          </p:cNvPr>
          <p:cNvSpPr txBox="1"/>
          <p:nvPr/>
        </p:nvSpPr>
        <p:spPr>
          <a:xfrm>
            <a:off x="4318864" y="1207320"/>
            <a:ext cx="3310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MANTENIMIENTO DE CLIENTES</a:t>
            </a:r>
            <a:endParaRPr lang="es-PE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239EEE9E-209A-261C-3E3C-2D13A15F4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036759"/>
              </p:ext>
            </p:extLst>
          </p:nvPr>
        </p:nvGraphicFramePr>
        <p:xfrm>
          <a:off x="521694" y="3153739"/>
          <a:ext cx="11388928" cy="2925771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847232">
                  <a:extLst>
                    <a:ext uri="{9D8B030D-6E8A-4147-A177-3AD203B41FA5}">
                      <a16:colId xmlns:a16="http://schemas.microsoft.com/office/drawing/2014/main" val="3053622161"/>
                    </a:ext>
                  </a:extLst>
                </a:gridCol>
                <a:gridCol w="2847232">
                  <a:extLst>
                    <a:ext uri="{9D8B030D-6E8A-4147-A177-3AD203B41FA5}">
                      <a16:colId xmlns:a16="http://schemas.microsoft.com/office/drawing/2014/main" val="2729298803"/>
                    </a:ext>
                  </a:extLst>
                </a:gridCol>
                <a:gridCol w="2847232">
                  <a:extLst>
                    <a:ext uri="{9D8B030D-6E8A-4147-A177-3AD203B41FA5}">
                      <a16:colId xmlns:a16="http://schemas.microsoft.com/office/drawing/2014/main" val="2069404471"/>
                    </a:ext>
                  </a:extLst>
                </a:gridCol>
                <a:gridCol w="2847232">
                  <a:extLst>
                    <a:ext uri="{9D8B030D-6E8A-4147-A177-3AD203B41FA5}">
                      <a16:colId xmlns:a16="http://schemas.microsoft.com/office/drawing/2014/main" val="3172522512"/>
                    </a:ext>
                  </a:extLst>
                </a:gridCol>
              </a:tblGrid>
              <a:tr h="548537">
                <a:tc>
                  <a:txBody>
                    <a:bodyPr/>
                    <a:lstStyle/>
                    <a:p>
                      <a:r>
                        <a:rPr lang="es-ES" dirty="0"/>
                        <a:t>NOMBRE DE CLIENTE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BREVE DESCRIPCION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OBSERVACIONES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531107"/>
                  </a:ext>
                </a:extLst>
              </a:tr>
              <a:tr h="548537">
                <a:tc>
                  <a:txBody>
                    <a:bodyPr/>
                    <a:lstStyle/>
                    <a:p>
                      <a:r>
                        <a:rPr lang="es-ES" dirty="0"/>
                        <a:t>BANCA SERVICIAL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SOMOS UNA EMPRESA.. 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INFORMES MENOR A 3 DIAS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0469"/>
                  </a:ext>
                </a:extLst>
              </a:tr>
              <a:tr h="548537">
                <a:tc>
                  <a:txBody>
                    <a:bodyPr/>
                    <a:lstStyle/>
                    <a:p>
                      <a:r>
                        <a:rPr lang="es-ES" dirty="0"/>
                        <a:t>CAJA REDONDA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SOMOS UNA CAJA 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INFORMES MENOR A 5 DIAS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7019"/>
                  </a:ext>
                </a:extLst>
              </a:tr>
              <a:tr h="548537">
                <a:tc>
                  <a:txBody>
                    <a:bodyPr/>
                    <a:lstStyle/>
                    <a:p>
                      <a:r>
                        <a:rPr lang="es-ES" dirty="0"/>
                        <a:t>MINERA ESTALAGMITA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MINERA NUMERO 1 PERU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INFORME MENOR A 7 DIAS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71487"/>
                  </a:ext>
                </a:extLst>
              </a:tr>
              <a:tr h="548537"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32462"/>
                  </a:ext>
                </a:extLst>
              </a:tr>
            </a:tbl>
          </a:graphicData>
        </a:graphic>
      </p:graphicFrame>
      <p:sp>
        <p:nvSpPr>
          <p:cNvPr id="20" name="Rectángulo 19">
            <a:extLst>
              <a:ext uri="{FF2B5EF4-FFF2-40B4-BE49-F238E27FC236}">
                <a16:creationId xmlns:a16="http://schemas.microsoft.com/office/drawing/2014/main" id="{46DB91F5-7B9F-D839-065C-636FDB484A57}"/>
              </a:ext>
            </a:extLst>
          </p:cNvPr>
          <p:cNvSpPr/>
          <p:nvPr/>
        </p:nvSpPr>
        <p:spPr>
          <a:xfrm>
            <a:off x="9059126" y="3811128"/>
            <a:ext cx="1326727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EDITAR</a:t>
            </a:r>
            <a:endParaRPr lang="es-PE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8B65FF2-AF99-4C2A-7202-9E056C84BF10}"/>
              </a:ext>
            </a:extLst>
          </p:cNvPr>
          <p:cNvSpPr/>
          <p:nvPr/>
        </p:nvSpPr>
        <p:spPr>
          <a:xfrm>
            <a:off x="10484874" y="3794815"/>
            <a:ext cx="1326727" cy="4303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ELIMINAR</a:t>
            </a:r>
            <a:endParaRPr lang="es-PE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21968E6-9749-BDDA-E989-598810185A36}"/>
              </a:ext>
            </a:extLst>
          </p:cNvPr>
          <p:cNvSpPr/>
          <p:nvPr/>
        </p:nvSpPr>
        <p:spPr>
          <a:xfrm>
            <a:off x="9066687" y="2622570"/>
            <a:ext cx="2659110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CLIENTE</a:t>
            </a:r>
            <a:endParaRPr lang="es-PE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056EB0B-5A78-748A-1036-80E0C5624CD4}"/>
              </a:ext>
            </a:extLst>
          </p:cNvPr>
          <p:cNvSpPr/>
          <p:nvPr/>
        </p:nvSpPr>
        <p:spPr>
          <a:xfrm>
            <a:off x="9059126" y="4461129"/>
            <a:ext cx="1326727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EDITAR</a:t>
            </a:r>
            <a:endParaRPr lang="es-PE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5521F7B-1664-EC33-88BF-B5AACA171399}"/>
              </a:ext>
            </a:extLst>
          </p:cNvPr>
          <p:cNvSpPr/>
          <p:nvPr/>
        </p:nvSpPr>
        <p:spPr>
          <a:xfrm>
            <a:off x="10484874" y="4444816"/>
            <a:ext cx="1326727" cy="4303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ELIMINAR</a:t>
            </a:r>
            <a:endParaRPr lang="es-PE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AD490AE-C67C-2B89-9BE1-ECFA35A6AA45}"/>
              </a:ext>
            </a:extLst>
          </p:cNvPr>
          <p:cNvSpPr/>
          <p:nvPr/>
        </p:nvSpPr>
        <p:spPr>
          <a:xfrm>
            <a:off x="9072524" y="5062885"/>
            <a:ext cx="1326727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EDITAR</a:t>
            </a:r>
            <a:endParaRPr lang="es-PE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607D876-B3ED-D203-7575-0998EB2AD3AB}"/>
              </a:ext>
            </a:extLst>
          </p:cNvPr>
          <p:cNvSpPr/>
          <p:nvPr/>
        </p:nvSpPr>
        <p:spPr>
          <a:xfrm>
            <a:off x="10498272" y="5046572"/>
            <a:ext cx="1326727" cy="4303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ELIMINAR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67322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AD2C-0297-64FD-6751-FEACFD126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97E26D7-3688-5703-EAEA-A97793D04827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8A69C39-601A-58D4-9382-186E05166E21}"/>
              </a:ext>
            </a:extLst>
          </p:cNvPr>
          <p:cNvSpPr>
            <a:spLocks/>
          </p:cNvSpPr>
          <p:nvPr/>
        </p:nvSpPr>
        <p:spPr>
          <a:xfrm>
            <a:off x="3518169" y="2961985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DESCRIPCION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F9C65F7-056A-A354-AD5B-01B9ED2FEFDA}"/>
              </a:ext>
            </a:extLst>
          </p:cNvPr>
          <p:cNvSpPr/>
          <p:nvPr/>
        </p:nvSpPr>
        <p:spPr>
          <a:xfrm>
            <a:off x="3518169" y="2194636"/>
            <a:ext cx="4461228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 CLIENTE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2A5D4DD-7B04-9A6B-9ABD-4E3CCBE9930E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C24354-CAC7-54B2-EDEE-0FCF11D34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4CA0E0A-44E8-6C0F-760B-62A0673BFF6C}"/>
              </a:ext>
            </a:extLst>
          </p:cNvPr>
          <p:cNvSpPr txBox="1"/>
          <p:nvPr/>
        </p:nvSpPr>
        <p:spPr>
          <a:xfrm>
            <a:off x="4313000" y="1338530"/>
            <a:ext cx="236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CLIENTES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41900E2-39DB-1840-9E30-50FC003CEA3B}"/>
              </a:ext>
            </a:extLst>
          </p:cNvPr>
          <p:cNvSpPr/>
          <p:nvPr/>
        </p:nvSpPr>
        <p:spPr>
          <a:xfrm>
            <a:off x="3518170" y="372933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A5F71DA-AEBA-07A6-E638-46E1EFBA663A}"/>
              </a:ext>
            </a:extLst>
          </p:cNvPr>
          <p:cNvSpPr txBox="1"/>
          <p:nvPr/>
        </p:nvSpPr>
        <p:spPr>
          <a:xfrm>
            <a:off x="4822675" y="3790291"/>
            <a:ext cx="1703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CONDICIONES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91C9FBC-3086-CC79-A4B5-F447843E2A62}"/>
              </a:ext>
            </a:extLst>
          </p:cNvPr>
          <p:cNvSpPr/>
          <p:nvPr/>
        </p:nvSpPr>
        <p:spPr>
          <a:xfrm>
            <a:off x="3518169" y="4668913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10FCE7C-8E60-7DBA-0FD4-08C3F28AC6B2}"/>
              </a:ext>
            </a:extLst>
          </p:cNvPr>
          <p:cNvSpPr/>
          <p:nvPr/>
        </p:nvSpPr>
        <p:spPr>
          <a:xfrm>
            <a:off x="6001966" y="4668913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22259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5F00B-7D75-BCC4-90FE-0BA9A00D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8C4B482-FF2C-2CAC-D64A-15F5CB41BCDB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52E303D-502E-B3A5-D123-9B22571B992C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835FCD-48BF-42A3-9F46-530A1A243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8F1F03C-A2CB-5AF6-5019-72DB0AB62CF0}"/>
              </a:ext>
            </a:extLst>
          </p:cNvPr>
          <p:cNvSpPr txBox="1"/>
          <p:nvPr/>
        </p:nvSpPr>
        <p:spPr>
          <a:xfrm>
            <a:off x="4318864" y="1207320"/>
            <a:ext cx="386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MANTENIMIENTO DE CONSULTORES</a:t>
            </a:r>
            <a:endParaRPr lang="es-PE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AF8D3BC5-0645-D1C6-9321-BAEBB338F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181723"/>
              </p:ext>
            </p:extLst>
          </p:nvPr>
        </p:nvGraphicFramePr>
        <p:xfrm>
          <a:off x="521694" y="3153739"/>
          <a:ext cx="11388928" cy="2742685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847232">
                  <a:extLst>
                    <a:ext uri="{9D8B030D-6E8A-4147-A177-3AD203B41FA5}">
                      <a16:colId xmlns:a16="http://schemas.microsoft.com/office/drawing/2014/main" val="3053622161"/>
                    </a:ext>
                  </a:extLst>
                </a:gridCol>
                <a:gridCol w="2847232">
                  <a:extLst>
                    <a:ext uri="{9D8B030D-6E8A-4147-A177-3AD203B41FA5}">
                      <a16:colId xmlns:a16="http://schemas.microsoft.com/office/drawing/2014/main" val="2729298803"/>
                    </a:ext>
                  </a:extLst>
                </a:gridCol>
                <a:gridCol w="2847232">
                  <a:extLst>
                    <a:ext uri="{9D8B030D-6E8A-4147-A177-3AD203B41FA5}">
                      <a16:colId xmlns:a16="http://schemas.microsoft.com/office/drawing/2014/main" val="2069404471"/>
                    </a:ext>
                  </a:extLst>
                </a:gridCol>
                <a:gridCol w="2847232">
                  <a:extLst>
                    <a:ext uri="{9D8B030D-6E8A-4147-A177-3AD203B41FA5}">
                      <a16:colId xmlns:a16="http://schemas.microsoft.com/office/drawing/2014/main" val="3172522512"/>
                    </a:ext>
                  </a:extLst>
                </a:gridCol>
              </a:tblGrid>
              <a:tr h="548537">
                <a:tc>
                  <a:txBody>
                    <a:bodyPr/>
                    <a:lstStyle/>
                    <a:p>
                      <a:r>
                        <a:rPr lang="es-ES" dirty="0"/>
                        <a:t>NOMBRE DE CONSULTOR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EXPERIENCIA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TIPO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531107"/>
                  </a:ext>
                </a:extLst>
              </a:tr>
              <a:tr h="548537">
                <a:tc>
                  <a:txBody>
                    <a:bodyPr/>
                    <a:lstStyle/>
                    <a:p>
                      <a:r>
                        <a:rPr lang="es-ES" dirty="0"/>
                        <a:t>BRAYAN RODRIGUEZ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WEB, API, CLOUD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EJECUTOR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0469"/>
                  </a:ext>
                </a:extLst>
              </a:tr>
              <a:tr h="548537">
                <a:tc>
                  <a:txBody>
                    <a:bodyPr/>
                    <a:lstStyle/>
                    <a:p>
                      <a:r>
                        <a:rPr lang="es-ES" dirty="0"/>
                        <a:t>JUAN PEREZ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MOVIL, MDM 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EJECUTOR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7019"/>
                  </a:ext>
                </a:extLst>
              </a:tr>
              <a:tr h="548537">
                <a:tc>
                  <a:txBody>
                    <a:bodyPr/>
                    <a:lstStyle/>
                    <a:p>
                      <a:r>
                        <a:rPr lang="es-ES" dirty="0"/>
                        <a:t>CELIA PEREZ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WEB, API, MOVIL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VALIDADOR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71487"/>
                  </a:ext>
                </a:extLst>
              </a:tr>
              <a:tr h="548537">
                <a:tc>
                  <a:txBody>
                    <a:bodyPr/>
                    <a:lstStyle/>
                    <a:p>
                      <a:r>
                        <a:rPr lang="es-ES" dirty="0"/>
                        <a:t>DIANA ROMAM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WEB,API,MOVIL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DOCUMENTADOR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32462"/>
                  </a:ext>
                </a:extLst>
              </a:tr>
            </a:tbl>
          </a:graphicData>
        </a:graphic>
      </p:graphicFrame>
      <p:sp>
        <p:nvSpPr>
          <p:cNvPr id="20" name="Rectángulo 19">
            <a:extLst>
              <a:ext uri="{FF2B5EF4-FFF2-40B4-BE49-F238E27FC236}">
                <a16:creationId xmlns:a16="http://schemas.microsoft.com/office/drawing/2014/main" id="{78BD8268-0C19-B2B9-510D-820972F3E35D}"/>
              </a:ext>
            </a:extLst>
          </p:cNvPr>
          <p:cNvSpPr/>
          <p:nvPr/>
        </p:nvSpPr>
        <p:spPr>
          <a:xfrm>
            <a:off x="9059126" y="3811128"/>
            <a:ext cx="1326727" cy="3582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EDITAR</a:t>
            </a:r>
            <a:endParaRPr lang="es-PE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C3FA0B8-BC2E-AB0A-F326-E315E7F3C15C}"/>
              </a:ext>
            </a:extLst>
          </p:cNvPr>
          <p:cNvSpPr/>
          <p:nvPr/>
        </p:nvSpPr>
        <p:spPr>
          <a:xfrm>
            <a:off x="10484874" y="3794816"/>
            <a:ext cx="1326727" cy="3745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ELIMINAR</a:t>
            </a:r>
            <a:endParaRPr lang="es-PE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212B835-5D49-E703-419E-31FA3B535CE3}"/>
              </a:ext>
            </a:extLst>
          </p:cNvPr>
          <p:cNvSpPr/>
          <p:nvPr/>
        </p:nvSpPr>
        <p:spPr>
          <a:xfrm>
            <a:off x="9066687" y="2622570"/>
            <a:ext cx="2659110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CONSULTOR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6CBB784-53A2-851C-EF58-9AEC653B5E7C}"/>
              </a:ext>
            </a:extLst>
          </p:cNvPr>
          <p:cNvSpPr/>
          <p:nvPr/>
        </p:nvSpPr>
        <p:spPr>
          <a:xfrm>
            <a:off x="9059126" y="4357291"/>
            <a:ext cx="1326727" cy="3582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EDITAR</a:t>
            </a:r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380FF58-E517-5A99-6A90-3A3ACB9D6F4B}"/>
              </a:ext>
            </a:extLst>
          </p:cNvPr>
          <p:cNvSpPr/>
          <p:nvPr/>
        </p:nvSpPr>
        <p:spPr>
          <a:xfrm>
            <a:off x="10484874" y="4340979"/>
            <a:ext cx="1326727" cy="3745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ELIMINAR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2207742-CBD0-8488-79F6-09C7E6490885}"/>
              </a:ext>
            </a:extLst>
          </p:cNvPr>
          <p:cNvSpPr/>
          <p:nvPr/>
        </p:nvSpPr>
        <p:spPr>
          <a:xfrm>
            <a:off x="9059126" y="4903454"/>
            <a:ext cx="1326727" cy="3582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EDITAR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2169268-4AFC-9D5F-95F2-AD15361E1434}"/>
              </a:ext>
            </a:extLst>
          </p:cNvPr>
          <p:cNvSpPr/>
          <p:nvPr/>
        </p:nvSpPr>
        <p:spPr>
          <a:xfrm>
            <a:off x="10484874" y="4887142"/>
            <a:ext cx="1326727" cy="3745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ELIMINAR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61BE2C0-A2ED-FA71-2133-14ACA3A4BF08}"/>
              </a:ext>
            </a:extLst>
          </p:cNvPr>
          <p:cNvSpPr/>
          <p:nvPr/>
        </p:nvSpPr>
        <p:spPr>
          <a:xfrm>
            <a:off x="9059126" y="5423987"/>
            <a:ext cx="1326727" cy="3582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EDITAR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B53C596-FE5E-DEA3-AD72-98BC6C5B29F9}"/>
              </a:ext>
            </a:extLst>
          </p:cNvPr>
          <p:cNvSpPr/>
          <p:nvPr/>
        </p:nvSpPr>
        <p:spPr>
          <a:xfrm>
            <a:off x="10484874" y="5407675"/>
            <a:ext cx="1326727" cy="37458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ELIMINAR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51508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8D8CD-B7C0-0A56-E90D-58B761AF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2A02022-42A0-D232-89A1-545A30341CA9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A8B07F4-59CF-F229-2CEB-167DDDB27D7F}"/>
              </a:ext>
            </a:extLst>
          </p:cNvPr>
          <p:cNvSpPr>
            <a:spLocks/>
          </p:cNvSpPr>
          <p:nvPr/>
        </p:nvSpPr>
        <p:spPr>
          <a:xfrm>
            <a:off x="3518169" y="2961985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EXPERIENCIA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1F99F5E-5ED3-F172-0902-9046353C5449}"/>
              </a:ext>
            </a:extLst>
          </p:cNvPr>
          <p:cNvSpPr/>
          <p:nvPr/>
        </p:nvSpPr>
        <p:spPr>
          <a:xfrm>
            <a:off x="3518169" y="2194636"/>
            <a:ext cx="4461228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 CONSULTOR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2865658-2FED-D9B2-0D52-97E4B9AFB109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96D037-C715-F883-B904-CAD9F952E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A01E2FC-A1C3-860E-064B-B8182079B9EE}"/>
              </a:ext>
            </a:extLst>
          </p:cNvPr>
          <p:cNvSpPr txBox="1"/>
          <p:nvPr/>
        </p:nvSpPr>
        <p:spPr>
          <a:xfrm>
            <a:off x="4313000" y="1338530"/>
            <a:ext cx="2661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CONSULTOR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C59DF99-56D3-2E9C-D52B-A11E81F283D0}"/>
              </a:ext>
            </a:extLst>
          </p:cNvPr>
          <p:cNvSpPr/>
          <p:nvPr/>
        </p:nvSpPr>
        <p:spPr>
          <a:xfrm>
            <a:off x="3518170" y="372933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6EFFB8A-F7EF-913D-C6DC-BDC421A40EEC}"/>
              </a:ext>
            </a:extLst>
          </p:cNvPr>
          <p:cNvSpPr/>
          <p:nvPr/>
        </p:nvSpPr>
        <p:spPr>
          <a:xfrm>
            <a:off x="3518169" y="4668913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0AECA5D-8CFC-A779-490C-961B5883B38D}"/>
              </a:ext>
            </a:extLst>
          </p:cNvPr>
          <p:cNvSpPr/>
          <p:nvPr/>
        </p:nvSpPr>
        <p:spPr>
          <a:xfrm>
            <a:off x="6001966" y="4668913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09209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ECE5A-6F98-8EF0-32BC-F1166B824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D7A6E8A-7DF4-0E9E-959D-D285BD355187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EB4F60C-5C92-37D1-25D4-43DDB0CB1101}"/>
              </a:ext>
            </a:extLst>
          </p:cNvPr>
          <p:cNvSpPr>
            <a:spLocks/>
          </p:cNvSpPr>
          <p:nvPr/>
        </p:nvSpPr>
        <p:spPr>
          <a:xfrm>
            <a:off x="5279762" y="48674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EJECUCIÓN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ADB8519-0A5C-3B65-D069-06FE3CCE5967}"/>
              </a:ext>
            </a:extLst>
          </p:cNvPr>
          <p:cNvSpPr/>
          <p:nvPr/>
        </p:nvSpPr>
        <p:spPr>
          <a:xfrm>
            <a:off x="2627917" y="7013460"/>
            <a:ext cx="7043170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AUTOGENERADO   - &gt;    CODIGO DE AUDITORIA DE PROYECTO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8EE30CA-D237-77B4-9F0E-BE6369FD0B6F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46B1A2-6556-7A2E-D905-8914F33A4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E3F321C-DBBF-9FD6-1F3D-FB9F7341B472}"/>
              </a:ext>
            </a:extLst>
          </p:cNvPr>
          <p:cNvSpPr txBox="1"/>
          <p:nvPr/>
        </p:nvSpPr>
        <p:spPr>
          <a:xfrm>
            <a:off x="4506881" y="245797"/>
            <a:ext cx="248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PROYECTO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6DC1280-0597-5C65-199B-DF1D82FC41A0}"/>
              </a:ext>
            </a:extLst>
          </p:cNvPr>
          <p:cNvSpPr/>
          <p:nvPr/>
        </p:nvSpPr>
        <p:spPr>
          <a:xfrm>
            <a:off x="5279762" y="118029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AUTENTICACION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D46BFCD-4CD4-1C55-121D-4A6082109A5E}"/>
              </a:ext>
            </a:extLst>
          </p:cNvPr>
          <p:cNvSpPr/>
          <p:nvPr/>
        </p:nvSpPr>
        <p:spPr>
          <a:xfrm>
            <a:off x="3779380" y="6333614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F77F781-7387-F1A3-A24F-DDD7CE2AF745}"/>
              </a:ext>
            </a:extLst>
          </p:cNvPr>
          <p:cNvSpPr/>
          <p:nvPr/>
        </p:nvSpPr>
        <p:spPr>
          <a:xfrm>
            <a:off x="6261262" y="6333613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A95692E-E13C-CF8B-FF0E-3A93C6F75E6D}"/>
              </a:ext>
            </a:extLst>
          </p:cNvPr>
          <p:cNvSpPr/>
          <p:nvPr/>
        </p:nvSpPr>
        <p:spPr>
          <a:xfrm>
            <a:off x="5279762" y="189509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ORIGEN DE PRUEBA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14746B1-6A12-B9CA-3AA1-F394FF9DAFB8}"/>
              </a:ext>
            </a:extLst>
          </p:cNvPr>
          <p:cNvSpPr/>
          <p:nvPr/>
        </p:nvSpPr>
        <p:spPr>
          <a:xfrm>
            <a:off x="5279761" y="257069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PRUEBAS</a:t>
            </a:r>
            <a:endParaRPr lang="es-PE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44C921F-494C-AB82-8E21-B6374D476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58" y="1095405"/>
            <a:ext cx="4542564" cy="21211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92B2872-7801-DB53-1B9A-E2677169EFD5}"/>
              </a:ext>
            </a:extLst>
          </p:cNvPr>
          <p:cNvSpPr/>
          <p:nvPr/>
        </p:nvSpPr>
        <p:spPr>
          <a:xfrm>
            <a:off x="573658" y="1129567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  <a:endParaRPr lang="es-PE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7EF43776-5C4E-0C32-BDA4-6BD7C5BE59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772"/>
          <a:stretch/>
        </p:blipFill>
        <p:spPr>
          <a:xfrm>
            <a:off x="542117" y="1574356"/>
            <a:ext cx="4605646" cy="2260017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DF2620B6-DD76-EE45-9610-928CCE17AA0D}"/>
              </a:ext>
            </a:extLst>
          </p:cNvPr>
          <p:cNvSpPr>
            <a:spLocks/>
          </p:cNvSpPr>
          <p:nvPr/>
        </p:nvSpPr>
        <p:spPr>
          <a:xfrm>
            <a:off x="718076" y="1767009"/>
            <a:ext cx="4165374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BANCA SERVICIAL</a:t>
            </a:r>
            <a:endParaRPr lang="es-PE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AF95F61-CABF-D259-7FC3-EBE07C5780ED}"/>
              </a:ext>
            </a:extLst>
          </p:cNvPr>
          <p:cNvSpPr>
            <a:spLocks/>
          </p:cNvSpPr>
          <p:nvPr/>
        </p:nvSpPr>
        <p:spPr>
          <a:xfrm>
            <a:off x="718076" y="2450909"/>
            <a:ext cx="4165374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CAJA REDONDA</a:t>
            </a:r>
            <a:endParaRPr lang="es-PE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FBD0727-1E86-6BA4-A293-772EA0802230}"/>
              </a:ext>
            </a:extLst>
          </p:cNvPr>
          <p:cNvSpPr>
            <a:spLocks/>
          </p:cNvSpPr>
          <p:nvPr/>
        </p:nvSpPr>
        <p:spPr>
          <a:xfrm>
            <a:off x="718076" y="3086388"/>
            <a:ext cx="4165374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MINERA ESTALAGMITA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16B7A215-73A6-3F52-4333-230D6B8EB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48" y="3829946"/>
            <a:ext cx="4542564" cy="2121188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E546D0A3-E9D9-3B2E-0F8F-4825C2CEEB9C}"/>
              </a:ext>
            </a:extLst>
          </p:cNvPr>
          <p:cNvSpPr/>
          <p:nvPr/>
        </p:nvSpPr>
        <p:spPr>
          <a:xfrm>
            <a:off x="621048" y="3864108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ESCENARIO</a:t>
            </a:r>
            <a:endParaRPr lang="es-PE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C02EBE7A-E9BA-C663-FB46-636B03CE8E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772" b="28806"/>
          <a:stretch/>
        </p:blipFill>
        <p:spPr>
          <a:xfrm>
            <a:off x="589507" y="4308898"/>
            <a:ext cx="4605646" cy="1382952"/>
          </a:xfrm>
          <a:prstGeom prst="rect">
            <a:avLst/>
          </a:prstGeom>
        </p:spPr>
      </p:pic>
      <p:sp>
        <p:nvSpPr>
          <p:cNvPr id="36" name="Rectángulo 35">
            <a:extLst>
              <a:ext uri="{FF2B5EF4-FFF2-40B4-BE49-F238E27FC236}">
                <a16:creationId xmlns:a16="http://schemas.microsoft.com/office/drawing/2014/main" id="{2FCCBE3D-0E08-F02F-1EB1-D75AF95270FA}"/>
              </a:ext>
            </a:extLst>
          </p:cNvPr>
          <p:cNvSpPr>
            <a:spLocks/>
          </p:cNvSpPr>
          <p:nvPr/>
        </p:nvSpPr>
        <p:spPr>
          <a:xfrm>
            <a:off x="765466" y="4501550"/>
            <a:ext cx="4165374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 1 – INFRA EXTERNO</a:t>
            </a:r>
            <a:endParaRPr lang="es-PE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0ECC5F5-2BFA-686E-6E6A-E78445F9C3E2}"/>
              </a:ext>
            </a:extLst>
          </p:cNvPr>
          <p:cNvSpPr>
            <a:spLocks/>
          </p:cNvSpPr>
          <p:nvPr/>
        </p:nvSpPr>
        <p:spPr>
          <a:xfrm>
            <a:off x="765466" y="5185450"/>
            <a:ext cx="4165374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 2 – INFRA INTERNO</a:t>
            </a:r>
            <a:endParaRPr lang="es-PE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9008C74-D82C-95CC-4B6D-2C3ADFEE984A}"/>
              </a:ext>
            </a:extLst>
          </p:cNvPr>
          <p:cNvSpPr>
            <a:spLocks/>
          </p:cNvSpPr>
          <p:nvPr/>
        </p:nvSpPr>
        <p:spPr>
          <a:xfrm>
            <a:off x="542117" y="48237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DEL PROYECTO</a:t>
            </a:r>
            <a:endParaRPr lang="es-PE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34E8167-5B6C-AC01-7D48-6B438D2D8650}"/>
              </a:ext>
            </a:extLst>
          </p:cNvPr>
          <p:cNvSpPr>
            <a:spLocks/>
          </p:cNvSpPr>
          <p:nvPr/>
        </p:nvSpPr>
        <p:spPr>
          <a:xfrm>
            <a:off x="5242543" y="4594723"/>
            <a:ext cx="4461229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ASGINAR VALIDADOR</a:t>
            </a:r>
            <a:endParaRPr lang="es-PE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5B48982F-0EB0-CB46-583E-630A94645C39}"/>
              </a:ext>
            </a:extLst>
          </p:cNvPr>
          <p:cNvSpPr>
            <a:spLocks/>
          </p:cNvSpPr>
          <p:nvPr/>
        </p:nvSpPr>
        <p:spPr>
          <a:xfrm>
            <a:off x="5258014" y="5222826"/>
            <a:ext cx="4461229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ASGINAR EJECUTOR</a:t>
            </a:r>
            <a:endParaRPr lang="es-PE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D9FA6F0F-460C-1958-BDD2-C128B20B25AF}"/>
              </a:ext>
            </a:extLst>
          </p:cNvPr>
          <p:cNvSpPr>
            <a:spLocks/>
          </p:cNvSpPr>
          <p:nvPr/>
        </p:nvSpPr>
        <p:spPr>
          <a:xfrm>
            <a:off x="5258014" y="5799574"/>
            <a:ext cx="4461229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ASGINAR DOCUMENTADOR</a:t>
            </a:r>
            <a:endParaRPr lang="es-PE" dirty="0"/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BF9C6A23-3492-227B-1402-5FC5DC8FA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995" y="4653752"/>
            <a:ext cx="390777" cy="401704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E0C85BD9-553D-B826-6252-697418E49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026" y="5273660"/>
            <a:ext cx="390777" cy="401704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AA4E904C-1EC3-061C-97FA-854FC9F3D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728" y="5844345"/>
            <a:ext cx="390777" cy="401704"/>
          </a:xfrm>
          <a:prstGeom prst="rect">
            <a:avLst/>
          </a:prstGeom>
        </p:spPr>
      </p:pic>
      <p:sp>
        <p:nvSpPr>
          <p:cNvPr id="52" name="Rectángulo 51">
            <a:extLst>
              <a:ext uri="{FF2B5EF4-FFF2-40B4-BE49-F238E27FC236}">
                <a16:creationId xmlns:a16="http://schemas.microsoft.com/office/drawing/2014/main" id="{C3A64470-8D8B-FAF2-E940-F958BCB1EAF5}"/>
              </a:ext>
            </a:extLst>
          </p:cNvPr>
          <p:cNvSpPr>
            <a:spLocks/>
          </p:cNvSpPr>
          <p:nvPr/>
        </p:nvSpPr>
        <p:spPr>
          <a:xfrm>
            <a:off x="5292181" y="3260381"/>
            <a:ext cx="4461229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ACTIVOS</a:t>
            </a:r>
            <a:endParaRPr lang="es-PE" dirty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C813FAE4-7332-AC0A-ADAD-DB8EF52C96F2}"/>
              </a:ext>
            </a:extLst>
          </p:cNvPr>
          <p:cNvSpPr>
            <a:spLocks/>
          </p:cNvSpPr>
          <p:nvPr/>
        </p:nvSpPr>
        <p:spPr>
          <a:xfrm>
            <a:off x="5292181" y="3924653"/>
            <a:ext cx="4461229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ARCHIVOS SOPORTE</a:t>
            </a:r>
            <a:endParaRPr lang="es-PE" dirty="0"/>
          </a:p>
        </p:txBody>
      </p:sp>
      <p:pic>
        <p:nvPicPr>
          <p:cNvPr id="54" name="Imagen 53">
            <a:extLst>
              <a:ext uri="{FF2B5EF4-FFF2-40B4-BE49-F238E27FC236}">
                <a16:creationId xmlns:a16="http://schemas.microsoft.com/office/drawing/2014/main" id="{957AF144-27C2-DFC0-1EBE-37CD35881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995" y="3982768"/>
            <a:ext cx="390777" cy="401704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F8D53988-95B0-F011-4D8F-114FF520E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727" y="3302254"/>
            <a:ext cx="390777" cy="40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58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C1A4-A07B-1302-3D71-9353CF15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4F03002-9B54-DC24-75B5-A8436FFBAE00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449BFD-33AF-C5D7-1BC4-7EB7718C82F3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585970-0E2F-4301-2151-170903D1B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6383002-3F18-BD3A-97E6-FBE48E652E28}"/>
              </a:ext>
            </a:extLst>
          </p:cNvPr>
          <p:cNvSpPr txBox="1"/>
          <p:nvPr/>
        </p:nvSpPr>
        <p:spPr>
          <a:xfrm>
            <a:off x="4318864" y="1207320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MANTENIMIENTO DE PROYECTOS</a:t>
            </a:r>
            <a:endParaRPr lang="es-PE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70EED16B-A3AB-0514-298C-4B8C757D2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391592"/>
              </p:ext>
            </p:extLst>
          </p:nvPr>
        </p:nvGraphicFramePr>
        <p:xfrm>
          <a:off x="107004" y="3153738"/>
          <a:ext cx="11948964" cy="408798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043767">
                  <a:extLst>
                    <a:ext uri="{9D8B030D-6E8A-4147-A177-3AD203B41FA5}">
                      <a16:colId xmlns:a16="http://schemas.microsoft.com/office/drawing/2014/main" val="3053622161"/>
                    </a:ext>
                  </a:extLst>
                </a:gridCol>
                <a:gridCol w="985304">
                  <a:extLst>
                    <a:ext uri="{9D8B030D-6E8A-4147-A177-3AD203B41FA5}">
                      <a16:colId xmlns:a16="http://schemas.microsoft.com/office/drawing/2014/main" val="491144692"/>
                    </a:ext>
                  </a:extLst>
                </a:gridCol>
                <a:gridCol w="731360">
                  <a:extLst>
                    <a:ext uri="{9D8B030D-6E8A-4147-A177-3AD203B41FA5}">
                      <a16:colId xmlns:a16="http://schemas.microsoft.com/office/drawing/2014/main" val="2729298803"/>
                    </a:ext>
                  </a:extLst>
                </a:gridCol>
                <a:gridCol w="934516">
                  <a:extLst>
                    <a:ext uri="{9D8B030D-6E8A-4147-A177-3AD203B41FA5}">
                      <a16:colId xmlns:a16="http://schemas.microsoft.com/office/drawing/2014/main" val="2069404471"/>
                    </a:ext>
                  </a:extLst>
                </a:gridCol>
                <a:gridCol w="864489">
                  <a:extLst>
                    <a:ext uri="{9D8B030D-6E8A-4147-A177-3AD203B41FA5}">
                      <a16:colId xmlns:a16="http://schemas.microsoft.com/office/drawing/2014/main" val="1884526593"/>
                    </a:ext>
                  </a:extLst>
                </a:gridCol>
                <a:gridCol w="760756">
                  <a:extLst>
                    <a:ext uri="{9D8B030D-6E8A-4147-A177-3AD203B41FA5}">
                      <a16:colId xmlns:a16="http://schemas.microsoft.com/office/drawing/2014/main" val="1957674542"/>
                    </a:ext>
                  </a:extLst>
                </a:gridCol>
                <a:gridCol w="650098">
                  <a:extLst>
                    <a:ext uri="{9D8B030D-6E8A-4147-A177-3AD203B41FA5}">
                      <a16:colId xmlns:a16="http://schemas.microsoft.com/office/drawing/2014/main" val="3496397084"/>
                    </a:ext>
                  </a:extLst>
                </a:gridCol>
                <a:gridCol w="1462721">
                  <a:extLst>
                    <a:ext uri="{9D8B030D-6E8A-4147-A177-3AD203B41FA5}">
                      <a16:colId xmlns:a16="http://schemas.microsoft.com/office/drawing/2014/main" val="3172522512"/>
                    </a:ext>
                  </a:extLst>
                </a:gridCol>
                <a:gridCol w="1462721">
                  <a:extLst>
                    <a:ext uri="{9D8B030D-6E8A-4147-A177-3AD203B41FA5}">
                      <a16:colId xmlns:a16="http://schemas.microsoft.com/office/drawing/2014/main" val="3010072222"/>
                    </a:ext>
                  </a:extLst>
                </a:gridCol>
                <a:gridCol w="3053232">
                  <a:extLst>
                    <a:ext uri="{9D8B030D-6E8A-4147-A177-3AD203B41FA5}">
                      <a16:colId xmlns:a16="http://schemas.microsoft.com/office/drawing/2014/main" val="883317745"/>
                    </a:ext>
                  </a:extLst>
                </a:gridCol>
              </a:tblGrid>
              <a:tr h="670290">
                <a:tc>
                  <a:txBody>
                    <a:bodyPr/>
                    <a:lstStyle/>
                    <a:p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CODIGO DE AUDITORIA DE PROYECTO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NOMBRE PROYECTO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CLIENTE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TIP EJE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AUTH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ORIG PRUEBA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TIPO PRUEBA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FECHA Y HORA DE REGISTRO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ESTADO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MANTENIMIENTO</a:t>
                      </a:r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531107"/>
                  </a:ext>
                </a:extLst>
              </a:tr>
              <a:tr h="670290">
                <a:tc>
                  <a:txBody>
                    <a:bodyPr/>
                    <a:lstStyle/>
                    <a:p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ORQUESTADOR DE CLAVES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BANCA SERVICIAL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CAJA GRIS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POST-AUTH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INTERNO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MANUALES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2024-12-01 15:20:00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CREADO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0469"/>
                  </a:ext>
                </a:extLst>
              </a:tr>
              <a:tr h="8618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FIRMA DIGITAL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CAJA REDONDA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CAJA NEGRA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PRE-AUTH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EXTERNO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AUTOMATICAS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2024-12-02 10:30:00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CREADO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7019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BENEFICIARIOS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MINERA ESTALAGMITA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CAJA NEGRA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PRE-AUTH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EXTERNO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MANUALES Y AUTOMATICAS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2024-12-10 16:10:00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CREADO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71487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32462"/>
                  </a:ext>
                </a:extLst>
              </a:tr>
            </a:tbl>
          </a:graphicData>
        </a:graphic>
      </p:graphicFrame>
      <p:sp>
        <p:nvSpPr>
          <p:cNvPr id="21" name="Rectángulo 20">
            <a:extLst>
              <a:ext uri="{FF2B5EF4-FFF2-40B4-BE49-F238E27FC236}">
                <a16:creationId xmlns:a16="http://schemas.microsoft.com/office/drawing/2014/main" id="{FBFD5C12-B183-5695-779C-38DF4EBEDDCC}"/>
              </a:ext>
            </a:extLst>
          </p:cNvPr>
          <p:cNvSpPr/>
          <p:nvPr/>
        </p:nvSpPr>
        <p:spPr>
          <a:xfrm>
            <a:off x="11645610" y="4104959"/>
            <a:ext cx="554346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ELI</a:t>
            </a:r>
            <a:endParaRPr lang="es-PE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926C261-4AC8-2756-EF97-D39CB01D7B8C}"/>
              </a:ext>
            </a:extLst>
          </p:cNvPr>
          <p:cNvSpPr/>
          <p:nvPr/>
        </p:nvSpPr>
        <p:spPr>
          <a:xfrm>
            <a:off x="9066687" y="2622570"/>
            <a:ext cx="2659110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PROYECTOS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ECAB0AA-AD26-C25A-A3D5-2567907149E6}"/>
              </a:ext>
            </a:extLst>
          </p:cNvPr>
          <p:cNvSpPr/>
          <p:nvPr/>
        </p:nvSpPr>
        <p:spPr>
          <a:xfrm>
            <a:off x="-2488557" y="2791010"/>
            <a:ext cx="2488557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AUTOGENERADO   - &gt;</a:t>
            </a:r>
            <a:endParaRPr lang="es-PE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AD6EE40-EF07-2925-6695-78A8E23BA3F5}"/>
              </a:ext>
            </a:extLst>
          </p:cNvPr>
          <p:cNvSpPr/>
          <p:nvPr/>
        </p:nvSpPr>
        <p:spPr>
          <a:xfrm>
            <a:off x="9841894" y="4104959"/>
            <a:ext cx="5543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VAL</a:t>
            </a:r>
            <a:endParaRPr lang="es-PE" sz="12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9CB4140-CD90-6FE0-2DC4-84F0E8C747C6}"/>
              </a:ext>
            </a:extLst>
          </p:cNvPr>
          <p:cNvSpPr/>
          <p:nvPr/>
        </p:nvSpPr>
        <p:spPr>
          <a:xfrm>
            <a:off x="10441293" y="4103553"/>
            <a:ext cx="5543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EJEC</a:t>
            </a:r>
            <a:endParaRPr lang="es-PE" sz="12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38ED27F-AB70-2438-BC35-B63743CFA090}"/>
              </a:ext>
            </a:extLst>
          </p:cNvPr>
          <p:cNvSpPr/>
          <p:nvPr/>
        </p:nvSpPr>
        <p:spPr>
          <a:xfrm>
            <a:off x="11056601" y="4103553"/>
            <a:ext cx="5543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DOC</a:t>
            </a:r>
            <a:endParaRPr lang="es-PE" sz="12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EA25877-9A21-8B8B-AE0F-93C8B23896E3}"/>
              </a:ext>
            </a:extLst>
          </p:cNvPr>
          <p:cNvSpPr/>
          <p:nvPr/>
        </p:nvSpPr>
        <p:spPr>
          <a:xfrm>
            <a:off x="8611276" y="4099690"/>
            <a:ext cx="5543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  <a:endParaRPr lang="es-PE" sz="12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E59A60-EFCD-E843-BA4A-6575229CDFA1}"/>
              </a:ext>
            </a:extLst>
          </p:cNvPr>
          <p:cNvSpPr/>
          <p:nvPr/>
        </p:nvSpPr>
        <p:spPr>
          <a:xfrm>
            <a:off x="9226585" y="4099689"/>
            <a:ext cx="5543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CAS</a:t>
            </a:r>
            <a:endParaRPr lang="es-PE" sz="12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BE4C5AD-A659-DD8E-375F-56C1D74CEACF}"/>
              </a:ext>
            </a:extLst>
          </p:cNvPr>
          <p:cNvSpPr/>
          <p:nvPr/>
        </p:nvSpPr>
        <p:spPr>
          <a:xfrm>
            <a:off x="11608626" y="5020194"/>
            <a:ext cx="554346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ELI</a:t>
            </a:r>
            <a:endParaRPr lang="es-PE" sz="12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2A1FD87-CA6B-2F9E-7574-238E3186AE16}"/>
              </a:ext>
            </a:extLst>
          </p:cNvPr>
          <p:cNvSpPr/>
          <p:nvPr/>
        </p:nvSpPr>
        <p:spPr>
          <a:xfrm>
            <a:off x="9804910" y="5020194"/>
            <a:ext cx="5543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VAL</a:t>
            </a:r>
            <a:endParaRPr lang="es-PE" sz="12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C0DEC40-A301-F504-A3EE-97E2381C5ABA}"/>
              </a:ext>
            </a:extLst>
          </p:cNvPr>
          <p:cNvSpPr/>
          <p:nvPr/>
        </p:nvSpPr>
        <p:spPr>
          <a:xfrm>
            <a:off x="10404309" y="5018788"/>
            <a:ext cx="5543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EJEC</a:t>
            </a:r>
            <a:endParaRPr lang="es-PE" sz="120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D52A11C-37FC-55CF-1730-FF8033397A55}"/>
              </a:ext>
            </a:extLst>
          </p:cNvPr>
          <p:cNvSpPr/>
          <p:nvPr/>
        </p:nvSpPr>
        <p:spPr>
          <a:xfrm>
            <a:off x="11019617" y="5018788"/>
            <a:ext cx="5543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DOC</a:t>
            </a:r>
            <a:endParaRPr lang="es-PE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77269CA-6FC2-4A64-D58E-767EB5358ADA}"/>
              </a:ext>
            </a:extLst>
          </p:cNvPr>
          <p:cNvSpPr/>
          <p:nvPr/>
        </p:nvSpPr>
        <p:spPr>
          <a:xfrm>
            <a:off x="8574292" y="5014925"/>
            <a:ext cx="5543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  <a:endParaRPr lang="es-PE" sz="120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8CE7086-F20D-D966-F427-B18BF578A83A}"/>
              </a:ext>
            </a:extLst>
          </p:cNvPr>
          <p:cNvSpPr/>
          <p:nvPr/>
        </p:nvSpPr>
        <p:spPr>
          <a:xfrm>
            <a:off x="9189601" y="5014924"/>
            <a:ext cx="5543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CAS</a:t>
            </a:r>
            <a:endParaRPr lang="es-PE" sz="12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2F83751-1323-DA74-AB5C-80210BF35B0B}"/>
              </a:ext>
            </a:extLst>
          </p:cNvPr>
          <p:cNvSpPr/>
          <p:nvPr/>
        </p:nvSpPr>
        <p:spPr>
          <a:xfrm>
            <a:off x="11637654" y="5898551"/>
            <a:ext cx="554346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ELI</a:t>
            </a:r>
            <a:endParaRPr lang="es-PE" sz="12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EDC869C-A478-0754-420D-43F86A2D3AC0}"/>
              </a:ext>
            </a:extLst>
          </p:cNvPr>
          <p:cNvSpPr/>
          <p:nvPr/>
        </p:nvSpPr>
        <p:spPr>
          <a:xfrm>
            <a:off x="9833938" y="5898551"/>
            <a:ext cx="5543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VAL</a:t>
            </a:r>
            <a:endParaRPr lang="es-PE" sz="12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87CE9A8-3440-3856-BEC9-1846D03AF949}"/>
              </a:ext>
            </a:extLst>
          </p:cNvPr>
          <p:cNvSpPr/>
          <p:nvPr/>
        </p:nvSpPr>
        <p:spPr>
          <a:xfrm>
            <a:off x="10433337" y="5897145"/>
            <a:ext cx="5543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EJEC</a:t>
            </a:r>
            <a:endParaRPr lang="es-PE" sz="120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DCE1F09-6AE7-058D-3376-DE2DE580A603}"/>
              </a:ext>
            </a:extLst>
          </p:cNvPr>
          <p:cNvSpPr/>
          <p:nvPr/>
        </p:nvSpPr>
        <p:spPr>
          <a:xfrm>
            <a:off x="11048645" y="5897145"/>
            <a:ext cx="5543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DOC</a:t>
            </a:r>
            <a:endParaRPr lang="es-PE" sz="12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D3D3357-EDE8-3D37-6815-DA341C806D9B}"/>
              </a:ext>
            </a:extLst>
          </p:cNvPr>
          <p:cNvSpPr/>
          <p:nvPr/>
        </p:nvSpPr>
        <p:spPr>
          <a:xfrm>
            <a:off x="8603320" y="5893282"/>
            <a:ext cx="5543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  <a:endParaRPr lang="es-PE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E3F1D8BA-9FB0-C85E-2C65-3CF389E0A108}"/>
              </a:ext>
            </a:extLst>
          </p:cNvPr>
          <p:cNvSpPr/>
          <p:nvPr/>
        </p:nvSpPr>
        <p:spPr>
          <a:xfrm>
            <a:off x="9218629" y="5893281"/>
            <a:ext cx="5543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CAS</a:t>
            </a:r>
            <a:endParaRPr lang="es-PE" sz="1200" dirty="0"/>
          </a:p>
        </p:txBody>
      </p:sp>
    </p:spTree>
    <p:extLst>
      <p:ext uri="{BB962C8B-B14F-4D97-AF65-F5344CB8AC3E}">
        <p14:creationId xmlns:p14="http://schemas.microsoft.com/office/powerpoint/2010/main" val="744647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289A-D40A-719F-91FA-223E69864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DC6EFC2-B336-87AE-4BCF-192D727AC746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0732638-B186-F704-7164-8336D54AC3B1}"/>
              </a:ext>
            </a:extLst>
          </p:cNvPr>
          <p:cNvSpPr>
            <a:spLocks/>
          </p:cNvSpPr>
          <p:nvPr/>
        </p:nvSpPr>
        <p:spPr>
          <a:xfrm>
            <a:off x="5279762" y="48674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EJECUCIÓN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9FAF787-3011-2012-056A-E9EDE1B6530D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171CCD-829D-078D-EBEC-1C89DBF31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B989E375-2297-DE88-B586-A3B8B3262AD3}"/>
              </a:ext>
            </a:extLst>
          </p:cNvPr>
          <p:cNvSpPr txBox="1"/>
          <p:nvPr/>
        </p:nvSpPr>
        <p:spPr>
          <a:xfrm>
            <a:off x="4506881" y="245797"/>
            <a:ext cx="248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PROYECTO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91ADF69-2290-5778-47EE-CE4CA1ABE8CB}"/>
              </a:ext>
            </a:extLst>
          </p:cNvPr>
          <p:cNvSpPr/>
          <p:nvPr/>
        </p:nvSpPr>
        <p:spPr>
          <a:xfrm>
            <a:off x="5279762" y="118029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AUTENTICACION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6F47A1E-F108-042F-45FB-9926B19B1589}"/>
              </a:ext>
            </a:extLst>
          </p:cNvPr>
          <p:cNvSpPr/>
          <p:nvPr/>
        </p:nvSpPr>
        <p:spPr>
          <a:xfrm>
            <a:off x="3823647" y="6073191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SIGUIENTE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FF7240-FA35-1910-0450-5DE853729C01}"/>
              </a:ext>
            </a:extLst>
          </p:cNvPr>
          <p:cNvSpPr/>
          <p:nvPr/>
        </p:nvSpPr>
        <p:spPr>
          <a:xfrm>
            <a:off x="6584444" y="6081710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1FFE864-198D-3D06-D36A-27C44147AD96}"/>
              </a:ext>
            </a:extLst>
          </p:cNvPr>
          <p:cNvSpPr/>
          <p:nvPr/>
        </p:nvSpPr>
        <p:spPr>
          <a:xfrm>
            <a:off x="5279762" y="189509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ORIGEN DE PRUEBA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31EEB76-99FD-22F8-6637-423CF222D890}"/>
              </a:ext>
            </a:extLst>
          </p:cNvPr>
          <p:cNvSpPr/>
          <p:nvPr/>
        </p:nvSpPr>
        <p:spPr>
          <a:xfrm>
            <a:off x="5279761" y="257069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PRUEBAS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9CD5B9E-F200-34D8-EF42-7FF95C8142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21048" y="1671543"/>
            <a:ext cx="4542564" cy="50948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E0BB458C-9699-64FF-AEF2-9321E8962ACF}"/>
              </a:ext>
            </a:extLst>
          </p:cNvPr>
          <p:cNvSpPr/>
          <p:nvPr/>
        </p:nvSpPr>
        <p:spPr>
          <a:xfrm>
            <a:off x="573658" y="1709269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ESCENARIO</a:t>
            </a:r>
            <a:endParaRPr lang="es-PE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316F2872-AE1B-0771-CB5F-E84F9E8EE659}"/>
              </a:ext>
            </a:extLst>
          </p:cNvPr>
          <p:cNvSpPr>
            <a:spLocks/>
          </p:cNvSpPr>
          <p:nvPr/>
        </p:nvSpPr>
        <p:spPr>
          <a:xfrm>
            <a:off x="542117" y="48237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DEL PROYECTO</a:t>
            </a:r>
            <a:endParaRPr lang="es-PE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75F3479-44CF-0250-A70D-A90C4BD03439}"/>
              </a:ext>
            </a:extLst>
          </p:cNvPr>
          <p:cNvSpPr>
            <a:spLocks/>
          </p:cNvSpPr>
          <p:nvPr/>
        </p:nvSpPr>
        <p:spPr>
          <a:xfrm>
            <a:off x="8170523" y="4019336"/>
            <a:ext cx="3229946" cy="16583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ASGINAR VALIDADOR</a:t>
            </a:r>
            <a:endParaRPr lang="es-PE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B09EA7E-2F86-9797-E4C5-BBDC824AED89}"/>
              </a:ext>
            </a:extLst>
          </p:cNvPr>
          <p:cNvSpPr>
            <a:spLocks/>
          </p:cNvSpPr>
          <p:nvPr/>
        </p:nvSpPr>
        <p:spPr>
          <a:xfrm>
            <a:off x="689097" y="3999352"/>
            <a:ext cx="2623063" cy="153535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ACTIVOS</a:t>
            </a:r>
            <a:endParaRPr lang="es-PE" dirty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C4F4559D-CBEE-6289-E65A-BE113D411DD8}"/>
              </a:ext>
            </a:extLst>
          </p:cNvPr>
          <p:cNvSpPr>
            <a:spLocks/>
          </p:cNvSpPr>
          <p:nvPr/>
        </p:nvSpPr>
        <p:spPr>
          <a:xfrm>
            <a:off x="4191662" y="4013477"/>
            <a:ext cx="3229946" cy="15560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ARCHIVOS SOPORTE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9F4FD38-2531-9438-532A-971DD72BDD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48430" y="1093957"/>
            <a:ext cx="4542564" cy="50948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FA497D5E-A216-15D6-C396-292FB8A0666E}"/>
              </a:ext>
            </a:extLst>
          </p:cNvPr>
          <p:cNvSpPr/>
          <p:nvPr/>
        </p:nvSpPr>
        <p:spPr>
          <a:xfrm>
            <a:off x="573658" y="1129567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  <a:endParaRPr lang="es-PE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B58EF97-8CA5-F05E-1D09-7BA8BBF4A8E8}"/>
              </a:ext>
            </a:extLst>
          </p:cNvPr>
          <p:cNvSpPr txBox="1"/>
          <p:nvPr/>
        </p:nvSpPr>
        <p:spPr>
          <a:xfrm>
            <a:off x="3823647" y="3435890"/>
            <a:ext cx="4544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PROCESO DE ASIGNACION DE VALIDADOR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3881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E3C9-DF54-3874-739A-FFA60B816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838D374-31D4-911C-2CB3-95EB6312DDE6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E7795CE-AAE0-3EC4-DD81-44C9FFCA580D}"/>
              </a:ext>
            </a:extLst>
          </p:cNvPr>
          <p:cNvSpPr>
            <a:spLocks/>
          </p:cNvSpPr>
          <p:nvPr/>
        </p:nvSpPr>
        <p:spPr>
          <a:xfrm>
            <a:off x="5279762" y="48674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EJECUCIÓN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75214F-3C76-02F8-CC96-90FE98AE33CC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48B9D5-D66A-6DFE-3B35-4758B0052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FCC3745-CB0C-BB11-C5E3-50E766988DE3}"/>
              </a:ext>
            </a:extLst>
          </p:cNvPr>
          <p:cNvSpPr txBox="1"/>
          <p:nvPr/>
        </p:nvSpPr>
        <p:spPr>
          <a:xfrm>
            <a:off x="4506881" y="245797"/>
            <a:ext cx="248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PROYECTO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50D13D8-227D-C75D-DE34-C67E626C954B}"/>
              </a:ext>
            </a:extLst>
          </p:cNvPr>
          <p:cNvSpPr/>
          <p:nvPr/>
        </p:nvSpPr>
        <p:spPr>
          <a:xfrm>
            <a:off x="5279762" y="118029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AUTENTICACION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C476890-2271-79A8-49DE-A0F4D7AC912A}"/>
              </a:ext>
            </a:extLst>
          </p:cNvPr>
          <p:cNvSpPr/>
          <p:nvPr/>
        </p:nvSpPr>
        <p:spPr>
          <a:xfrm>
            <a:off x="3522250" y="6299531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SEGUIENTE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6BA851A-AE9F-0FD0-DF76-3877D77097F3}"/>
              </a:ext>
            </a:extLst>
          </p:cNvPr>
          <p:cNvSpPr/>
          <p:nvPr/>
        </p:nvSpPr>
        <p:spPr>
          <a:xfrm>
            <a:off x="5974116" y="6299531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21A90E5-3622-3745-D32C-04DAE6BA7D0D}"/>
              </a:ext>
            </a:extLst>
          </p:cNvPr>
          <p:cNvSpPr/>
          <p:nvPr/>
        </p:nvSpPr>
        <p:spPr>
          <a:xfrm>
            <a:off x="5279762" y="189509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ORIGEN DE PRUEBA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D58F23C-8C4F-6747-7F9D-A70541194FA9}"/>
              </a:ext>
            </a:extLst>
          </p:cNvPr>
          <p:cNvSpPr/>
          <p:nvPr/>
        </p:nvSpPr>
        <p:spPr>
          <a:xfrm>
            <a:off x="5279761" y="257069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PRUEBAS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11BEDDB8-FC31-E6C2-0C3E-187D71968E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21048" y="1671543"/>
            <a:ext cx="4542564" cy="50948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DAA7650A-EAD7-04C1-EBD5-505C6F7DF374}"/>
              </a:ext>
            </a:extLst>
          </p:cNvPr>
          <p:cNvSpPr/>
          <p:nvPr/>
        </p:nvSpPr>
        <p:spPr>
          <a:xfrm>
            <a:off x="573658" y="1709269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ESCENARIO</a:t>
            </a:r>
            <a:endParaRPr lang="es-PE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7AA5618-CA03-6440-BC7E-2F159810FCC8}"/>
              </a:ext>
            </a:extLst>
          </p:cNvPr>
          <p:cNvSpPr>
            <a:spLocks/>
          </p:cNvSpPr>
          <p:nvPr/>
        </p:nvSpPr>
        <p:spPr>
          <a:xfrm>
            <a:off x="542117" y="48237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DEL PROYECTO</a:t>
            </a:r>
            <a:endParaRPr lang="es-PE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B294423-999F-BD84-CD22-C7EBEEF54064}"/>
              </a:ext>
            </a:extLst>
          </p:cNvPr>
          <p:cNvSpPr>
            <a:spLocks/>
          </p:cNvSpPr>
          <p:nvPr/>
        </p:nvSpPr>
        <p:spPr>
          <a:xfrm>
            <a:off x="3469329" y="3863081"/>
            <a:ext cx="4482218" cy="23501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ARCHIVOS EN .ZIP .RAR </a:t>
            </a:r>
            <a:endParaRPr lang="es-PE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CB3F6B72-5D27-A62D-F35F-344BE62BCECF}"/>
              </a:ext>
            </a:extLst>
          </p:cNvPr>
          <p:cNvSpPr>
            <a:spLocks/>
          </p:cNvSpPr>
          <p:nvPr/>
        </p:nvSpPr>
        <p:spPr>
          <a:xfrm>
            <a:off x="3469328" y="3285495"/>
            <a:ext cx="4461229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ARCHIVOS SOPORTE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F9D91D8-BD4E-7024-331D-430366ADEA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48430" y="1093957"/>
            <a:ext cx="4542564" cy="50948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2FCFD70-573A-E4D4-F1CE-52C2CDAFDE22}"/>
              </a:ext>
            </a:extLst>
          </p:cNvPr>
          <p:cNvSpPr/>
          <p:nvPr/>
        </p:nvSpPr>
        <p:spPr>
          <a:xfrm>
            <a:off x="573658" y="1129567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98773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16A40-0929-E695-1229-1A1B2888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ADE55B3-B5E7-A053-07C3-FC7AD8E26B5C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F97EB1E-7C2A-3B1C-116F-AF38053CC994}"/>
              </a:ext>
            </a:extLst>
          </p:cNvPr>
          <p:cNvSpPr>
            <a:spLocks/>
          </p:cNvSpPr>
          <p:nvPr/>
        </p:nvSpPr>
        <p:spPr>
          <a:xfrm>
            <a:off x="5279762" y="48674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EJECUCIÓN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567E45C-9574-C5F3-2E3D-9759F7EB6B90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811C61-ECD2-E374-1C7D-63353B163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1C9AA8D-79CB-A43B-0039-711D3082D6CF}"/>
              </a:ext>
            </a:extLst>
          </p:cNvPr>
          <p:cNvSpPr txBox="1"/>
          <p:nvPr/>
        </p:nvSpPr>
        <p:spPr>
          <a:xfrm>
            <a:off x="4506881" y="245797"/>
            <a:ext cx="248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PROYECTO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6DF95EA-629A-47F3-80BE-69B579C8107E}"/>
              </a:ext>
            </a:extLst>
          </p:cNvPr>
          <p:cNvSpPr/>
          <p:nvPr/>
        </p:nvSpPr>
        <p:spPr>
          <a:xfrm>
            <a:off x="5279762" y="118029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AUTENTICACION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0D0159-42EB-79C6-86F7-48C9A64797B3}"/>
              </a:ext>
            </a:extLst>
          </p:cNvPr>
          <p:cNvSpPr/>
          <p:nvPr/>
        </p:nvSpPr>
        <p:spPr>
          <a:xfrm>
            <a:off x="3371355" y="6263521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SEGUIENTE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81A71C9-94E2-B49B-8569-BE31A1C66573}"/>
              </a:ext>
            </a:extLst>
          </p:cNvPr>
          <p:cNvSpPr/>
          <p:nvPr/>
        </p:nvSpPr>
        <p:spPr>
          <a:xfrm>
            <a:off x="5878384" y="6272710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082074-AD2A-7684-751F-E556726C7E40}"/>
              </a:ext>
            </a:extLst>
          </p:cNvPr>
          <p:cNvSpPr/>
          <p:nvPr/>
        </p:nvSpPr>
        <p:spPr>
          <a:xfrm>
            <a:off x="5279762" y="189509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ORIGEN DE PRUEBA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3992223-CD9B-86CC-ADEF-02962E4BDED3}"/>
              </a:ext>
            </a:extLst>
          </p:cNvPr>
          <p:cNvSpPr/>
          <p:nvPr/>
        </p:nvSpPr>
        <p:spPr>
          <a:xfrm>
            <a:off x="5279761" y="257069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PRUEBAS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E8E42343-E365-F3CF-3A31-E088B389C5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21048" y="1671543"/>
            <a:ext cx="4542564" cy="50948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673605D5-816B-82D8-0D69-5A293E9BFBC9}"/>
              </a:ext>
            </a:extLst>
          </p:cNvPr>
          <p:cNvSpPr/>
          <p:nvPr/>
        </p:nvSpPr>
        <p:spPr>
          <a:xfrm>
            <a:off x="573658" y="1709269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ESCENARIO</a:t>
            </a:r>
            <a:endParaRPr lang="es-PE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2179602-B3A1-663F-8387-D93B26E3B996}"/>
              </a:ext>
            </a:extLst>
          </p:cNvPr>
          <p:cNvSpPr>
            <a:spLocks/>
          </p:cNvSpPr>
          <p:nvPr/>
        </p:nvSpPr>
        <p:spPr>
          <a:xfrm>
            <a:off x="542117" y="48237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DEL PROYECTO</a:t>
            </a:r>
            <a:endParaRPr lang="es-PE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AC9657A-1C8A-EAFC-156C-FD37CC682BE4}"/>
              </a:ext>
            </a:extLst>
          </p:cNvPr>
          <p:cNvSpPr>
            <a:spLocks/>
          </p:cNvSpPr>
          <p:nvPr/>
        </p:nvSpPr>
        <p:spPr>
          <a:xfrm>
            <a:off x="3184848" y="3347911"/>
            <a:ext cx="5054526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ASIGNAR VALIDADOR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44D2C1F-BC91-2D8E-F9B9-EACFF3906B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48430" y="1093957"/>
            <a:ext cx="4542564" cy="50948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363B3F65-5034-B3F2-EE69-09E904BDA079}"/>
              </a:ext>
            </a:extLst>
          </p:cNvPr>
          <p:cNvSpPr/>
          <p:nvPr/>
        </p:nvSpPr>
        <p:spPr>
          <a:xfrm>
            <a:off x="573658" y="1129567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  <a:endParaRPr lang="es-PE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CE94E8C-C7B3-A2EB-297C-131F814EC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388" y="3985880"/>
            <a:ext cx="5105927" cy="2121188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B72A28EA-3055-FB65-D534-90A53428F012}"/>
              </a:ext>
            </a:extLst>
          </p:cNvPr>
          <p:cNvSpPr/>
          <p:nvPr/>
        </p:nvSpPr>
        <p:spPr>
          <a:xfrm>
            <a:off x="3216388" y="4020042"/>
            <a:ext cx="4271531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ESCOGER CONSULTOR QUIEN VALIDARA</a:t>
            </a:r>
            <a:endParaRPr lang="es-PE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854CAB9-D4BF-8B79-E467-882994E06D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772" b="28806"/>
          <a:stretch/>
        </p:blipFill>
        <p:spPr>
          <a:xfrm>
            <a:off x="3184848" y="4464832"/>
            <a:ext cx="5176832" cy="1382952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1B36D781-447C-D95E-0EE7-106E9656B3E2}"/>
              </a:ext>
            </a:extLst>
          </p:cNvPr>
          <p:cNvSpPr>
            <a:spLocks/>
          </p:cNvSpPr>
          <p:nvPr/>
        </p:nvSpPr>
        <p:spPr>
          <a:xfrm>
            <a:off x="3360807" y="4657484"/>
            <a:ext cx="4681958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CELIA PEREZ </a:t>
            </a:r>
            <a:endParaRPr lang="es-PE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C776043-00AC-0CDC-963E-C2F5B0398D77}"/>
              </a:ext>
            </a:extLst>
          </p:cNvPr>
          <p:cNvSpPr>
            <a:spLocks/>
          </p:cNvSpPr>
          <p:nvPr/>
        </p:nvSpPr>
        <p:spPr>
          <a:xfrm>
            <a:off x="3360807" y="5341384"/>
            <a:ext cx="4681958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DIANA ROMAN</a:t>
            </a:r>
            <a:endParaRPr lang="es-PE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C6F6C34-322D-34AF-1DD9-F6306E891D05}"/>
              </a:ext>
            </a:extLst>
          </p:cNvPr>
          <p:cNvSpPr>
            <a:spLocks/>
          </p:cNvSpPr>
          <p:nvPr/>
        </p:nvSpPr>
        <p:spPr>
          <a:xfrm>
            <a:off x="8711905" y="4771882"/>
            <a:ext cx="3090505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HORA REGISTRO DE VALIDADOR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6481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8DF50-B83B-029D-1DBF-719CCD181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9D4DA50-2595-FFDC-E64D-2BF8D255F1A1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A6ADF24-E1FB-0577-36B5-7430FFF22775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2E352F-F368-A992-0DDB-A53629FE4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22DCF36-1117-AC18-ACA4-C7B66DA21FCD}"/>
              </a:ext>
            </a:extLst>
          </p:cNvPr>
          <p:cNvSpPr txBox="1"/>
          <p:nvPr/>
        </p:nvSpPr>
        <p:spPr>
          <a:xfrm>
            <a:off x="4318864" y="1207320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MANTENIMIENTO DE PROYECTOS</a:t>
            </a:r>
            <a:endParaRPr lang="es-PE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447B75E7-582E-0BF6-7726-5FCAD4CA4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046084"/>
              </p:ext>
            </p:extLst>
          </p:nvPr>
        </p:nvGraphicFramePr>
        <p:xfrm>
          <a:off x="107004" y="3153738"/>
          <a:ext cx="11948964" cy="3351233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08996">
                  <a:extLst>
                    <a:ext uri="{9D8B030D-6E8A-4147-A177-3AD203B41FA5}">
                      <a16:colId xmlns:a16="http://schemas.microsoft.com/office/drawing/2014/main" val="3053622161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491144692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7292988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6940447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884526593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95767454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3496397084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317252251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010072222"/>
                    </a:ext>
                  </a:extLst>
                </a:gridCol>
                <a:gridCol w="1860256">
                  <a:extLst>
                    <a:ext uri="{9D8B030D-6E8A-4147-A177-3AD203B41FA5}">
                      <a16:colId xmlns:a16="http://schemas.microsoft.com/office/drawing/2014/main" val="2384113708"/>
                    </a:ext>
                  </a:extLst>
                </a:gridCol>
                <a:gridCol w="3053232">
                  <a:extLst>
                    <a:ext uri="{9D8B030D-6E8A-4147-A177-3AD203B41FA5}">
                      <a16:colId xmlns:a16="http://schemas.microsoft.com/office/drawing/2014/main" val="883317745"/>
                    </a:ext>
                  </a:extLst>
                </a:gridCol>
              </a:tblGrid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CODIGO DE AUDITORIA DE PROYECTO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NOMBRE PROYECTO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CLIENTE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 EJE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ORIG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TIPO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DE REGISTRO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ESTADO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EN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MANTENIMIENTO</a:t>
                      </a:r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531107"/>
                  </a:ext>
                </a:extLst>
              </a:tr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ORQUESTADOR DE CLAVES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BANCA SERVICIAL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GRIS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POST-AUTH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INTERNO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2024-12-01 15:20:00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EN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2024-12-05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0469"/>
                  </a:ext>
                </a:extLst>
              </a:tr>
              <a:tr h="8618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FIRMA DIGITAL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REDONDA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2024-12-02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EN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2024-12-06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7019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BENEFICIARIOS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MINERA ESTALAGMITA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 Y 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2024-12-10 16:10:00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CREADO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71487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32462"/>
                  </a:ext>
                </a:extLst>
              </a:tr>
            </a:tbl>
          </a:graphicData>
        </a:graphic>
      </p:graphicFrame>
      <p:sp>
        <p:nvSpPr>
          <p:cNvPr id="21" name="Rectángulo 20">
            <a:extLst>
              <a:ext uri="{FF2B5EF4-FFF2-40B4-BE49-F238E27FC236}">
                <a16:creationId xmlns:a16="http://schemas.microsoft.com/office/drawing/2014/main" id="{3E0744AB-1342-3253-733B-60071C9AA242}"/>
              </a:ext>
            </a:extLst>
          </p:cNvPr>
          <p:cNvSpPr/>
          <p:nvPr/>
        </p:nvSpPr>
        <p:spPr>
          <a:xfrm>
            <a:off x="11645610" y="3942399"/>
            <a:ext cx="554346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ELI</a:t>
            </a:r>
            <a:endParaRPr lang="es-PE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49F1FBF-0C40-E3A0-EF7A-07773A06645D}"/>
              </a:ext>
            </a:extLst>
          </p:cNvPr>
          <p:cNvSpPr/>
          <p:nvPr/>
        </p:nvSpPr>
        <p:spPr>
          <a:xfrm>
            <a:off x="9066687" y="2622570"/>
            <a:ext cx="2659110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PROYECTOS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520D435-1822-4F97-E448-F54D27C23F67}"/>
              </a:ext>
            </a:extLst>
          </p:cNvPr>
          <p:cNvSpPr/>
          <p:nvPr/>
        </p:nvSpPr>
        <p:spPr>
          <a:xfrm>
            <a:off x="-2488557" y="2791010"/>
            <a:ext cx="2488557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AUTOGENERADO   - &gt;</a:t>
            </a:r>
            <a:endParaRPr lang="es-PE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B537D26-0504-210F-3B4D-BDB71FA4C46E}"/>
              </a:ext>
            </a:extLst>
          </p:cNvPr>
          <p:cNvSpPr/>
          <p:nvPr/>
        </p:nvSpPr>
        <p:spPr>
          <a:xfrm>
            <a:off x="9841894" y="3942399"/>
            <a:ext cx="554348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VAL</a:t>
            </a:r>
            <a:endParaRPr lang="es-PE" sz="12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3C76785-A3FD-749D-2D3B-AA01617D6A45}"/>
              </a:ext>
            </a:extLst>
          </p:cNvPr>
          <p:cNvSpPr/>
          <p:nvPr/>
        </p:nvSpPr>
        <p:spPr>
          <a:xfrm>
            <a:off x="10441293" y="3940993"/>
            <a:ext cx="5543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EJEC</a:t>
            </a:r>
            <a:endParaRPr lang="es-PE" sz="12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32053A5-698A-23E4-6B5E-DC83118B3FB7}"/>
              </a:ext>
            </a:extLst>
          </p:cNvPr>
          <p:cNvSpPr/>
          <p:nvPr/>
        </p:nvSpPr>
        <p:spPr>
          <a:xfrm>
            <a:off x="11056601" y="3940993"/>
            <a:ext cx="5543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DOC</a:t>
            </a:r>
            <a:endParaRPr lang="es-PE" sz="12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375A359-5311-F5E3-4542-69755968C395}"/>
              </a:ext>
            </a:extLst>
          </p:cNvPr>
          <p:cNvSpPr/>
          <p:nvPr/>
        </p:nvSpPr>
        <p:spPr>
          <a:xfrm>
            <a:off x="8611276" y="3937130"/>
            <a:ext cx="554348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  <a:endParaRPr lang="es-PE" sz="12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ED51517-22DD-F034-3975-6B916D8A6394}"/>
              </a:ext>
            </a:extLst>
          </p:cNvPr>
          <p:cNvSpPr/>
          <p:nvPr/>
        </p:nvSpPr>
        <p:spPr>
          <a:xfrm>
            <a:off x="9226585" y="3937129"/>
            <a:ext cx="554348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CAS</a:t>
            </a:r>
            <a:endParaRPr lang="es-PE" sz="12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D627C09-5169-6285-3C40-AB2A2326578F}"/>
              </a:ext>
            </a:extLst>
          </p:cNvPr>
          <p:cNvSpPr/>
          <p:nvPr/>
        </p:nvSpPr>
        <p:spPr>
          <a:xfrm>
            <a:off x="11608626" y="4664594"/>
            <a:ext cx="554346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ELI</a:t>
            </a:r>
            <a:endParaRPr lang="es-PE" sz="12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64999E6-D53F-4AF2-488A-3524A74D85B1}"/>
              </a:ext>
            </a:extLst>
          </p:cNvPr>
          <p:cNvSpPr/>
          <p:nvPr/>
        </p:nvSpPr>
        <p:spPr>
          <a:xfrm>
            <a:off x="10404309" y="4663188"/>
            <a:ext cx="5543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EJEC</a:t>
            </a:r>
            <a:endParaRPr lang="es-PE" sz="120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F03858F-AAB4-389F-D81B-13C7B86647F4}"/>
              </a:ext>
            </a:extLst>
          </p:cNvPr>
          <p:cNvSpPr/>
          <p:nvPr/>
        </p:nvSpPr>
        <p:spPr>
          <a:xfrm>
            <a:off x="11019617" y="4663188"/>
            <a:ext cx="5543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DOC</a:t>
            </a:r>
            <a:endParaRPr lang="es-PE" sz="12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B244088-A49A-57A5-9101-C0B8786FA08A}"/>
              </a:ext>
            </a:extLst>
          </p:cNvPr>
          <p:cNvSpPr/>
          <p:nvPr/>
        </p:nvSpPr>
        <p:spPr>
          <a:xfrm>
            <a:off x="11637654" y="5441351"/>
            <a:ext cx="554346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ELI</a:t>
            </a:r>
            <a:endParaRPr lang="es-PE" sz="12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201BD214-79D5-0FC0-4A7F-86CA4D5BC1F9}"/>
              </a:ext>
            </a:extLst>
          </p:cNvPr>
          <p:cNvSpPr/>
          <p:nvPr/>
        </p:nvSpPr>
        <p:spPr>
          <a:xfrm>
            <a:off x="9833938" y="5441351"/>
            <a:ext cx="5543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VAL</a:t>
            </a:r>
            <a:endParaRPr lang="es-PE" sz="12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32CC24B-AF30-C0FD-FFBF-23B22C10D2C3}"/>
              </a:ext>
            </a:extLst>
          </p:cNvPr>
          <p:cNvSpPr/>
          <p:nvPr/>
        </p:nvSpPr>
        <p:spPr>
          <a:xfrm>
            <a:off x="10433337" y="5439945"/>
            <a:ext cx="5543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EJEC</a:t>
            </a:r>
            <a:endParaRPr lang="es-PE" sz="120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538A987-E558-7EBE-847E-131DB0A25894}"/>
              </a:ext>
            </a:extLst>
          </p:cNvPr>
          <p:cNvSpPr/>
          <p:nvPr/>
        </p:nvSpPr>
        <p:spPr>
          <a:xfrm>
            <a:off x="11048645" y="5439945"/>
            <a:ext cx="5543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DOC</a:t>
            </a:r>
            <a:endParaRPr lang="es-PE" sz="12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C764C8A-62E9-53B0-16E3-7D557D25BEF1}"/>
              </a:ext>
            </a:extLst>
          </p:cNvPr>
          <p:cNvSpPr/>
          <p:nvPr/>
        </p:nvSpPr>
        <p:spPr>
          <a:xfrm>
            <a:off x="8603320" y="5436082"/>
            <a:ext cx="5543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  <a:endParaRPr lang="es-PE" sz="120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DD2A212-86DC-1190-7878-8B4C52F16EF4}"/>
              </a:ext>
            </a:extLst>
          </p:cNvPr>
          <p:cNvSpPr/>
          <p:nvPr/>
        </p:nvSpPr>
        <p:spPr>
          <a:xfrm>
            <a:off x="9218629" y="5436081"/>
            <a:ext cx="5543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CAS</a:t>
            </a:r>
            <a:endParaRPr lang="es-PE" sz="12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978AF0-AA32-0832-5CE9-FAF277490DBC}"/>
              </a:ext>
            </a:extLst>
          </p:cNvPr>
          <p:cNvSpPr/>
          <p:nvPr/>
        </p:nvSpPr>
        <p:spPr>
          <a:xfrm>
            <a:off x="9819481" y="4668458"/>
            <a:ext cx="554348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VAL</a:t>
            </a:r>
            <a:endParaRPr lang="es-PE" sz="12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7C4F523-055C-3E60-E9FC-64F372D56A45}"/>
              </a:ext>
            </a:extLst>
          </p:cNvPr>
          <p:cNvSpPr/>
          <p:nvPr/>
        </p:nvSpPr>
        <p:spPr>
          <a:xfrm>
            <a:off x="8588863" y="4663189"/>
            <a:ext cx="554348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  <a:endParaRPr lang="es-PE" sz="12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6A1D632-6746-C904-48F3-C2BBB68BDA7B}"/>
              </a:ext>
            </a:extLst>
          </p:cNvPr>
          <p:cNvSpPr/>
          <p:nvPr/>
        </p:nvSpPr>
        <p:spPr>
          <a:xfrm>
            <a:off x="9204172" y="4663188"/>
            <a:ext cx="554348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CAS</a:t>
            </a:r>
            <a:endParaRPr lang="es-PE" sz="1200" dirty="0"/>
          </a:p>
        </p:txBody>
      </p:sp>
    </p:spTree>
    <p:extLst>
      <p:ext uri="{BB962C8B-B14F-4D97-AF65-F5344CB8AC3E}">
        <p14:creationId xmlns:p14="http://schemas.microsoft.com/office/powerpoint/2010/main" val="2700193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46BCC-57BA-7198-309A-4E38E44B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80445B5-4861-E503-4E96-02ECE38473EC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7EB096E-9A7F-9D49-BF13-C774A2901C53}"/>
              </a:ext>
            </a:extLst>
          </p:cNvPr>
          <p:cNvSpPr txBox="1"/>
          <p:nvPr/>
        </p:nvSpPr>
        <p:spPr>
          <a:xfrm>
            <a:off x="4318864" y="1207320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MANTENIMIENTO DE PROYECTOS</a:t>
            </a:r>
            <a:endParaRPr lang="es-PE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A20DC988-014C-401A-82CB-DD2FC91F0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666601"/>
              </p:ext>
            </p:extLst>
          </p:nvPr>
        </p:nvGraphicFramePr>
        <p:xfrm>
          <a:off x="107004" y="3153738"/>
          <a:ext cx="11948964" cy="3351233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08996">
                  <a:extLst>
                    <a:ext uri="{9D8B030D-6E8A-4147-A177-3AD203B41FA5}">
                      <a16:colId xmlns:a16="http://schemas.microsoft.com/office/drawing/2014/main" val="3053622161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491144692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7292988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6940447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884526593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95767454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3496397084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317252251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010072222"/>
                    </a:ext>
                  </a:extLst>
                </a:gridCol>
                <a:gridCol w="1860256">
                  <a:extLst>
                    <a:ext uri="{9D8B030D-6E8A-4147-A177-3AD203B41FA5}">
                      <a16:colId xmlns:a16="http://schemas.microsoft.com/office/drawing/2014/main" val="2384113708"/>
                    </a:ext>
                  </a:extLst>
                </a:gridCol>
                <a:gridCol w="3053232">
                  <a:extLst>
                    <a:ext uri="{9D8B030D-6E8A-4147-A177-3AD203B41FA5}">
                      <a16:colId xmlns:a16="http://schemas.microsoft.com/office/drawing/2014/main" val="883317745"/>
                    </a:ext>
                  </a:extLst>
                </a:gridCol>
              </a:tblGrid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CODIGO DE AUDITORIA DE PROYECTO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NOMBRE PROYECTO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CLIENTE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 EJE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ORIG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TIPO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DE REGISTRO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ESTADO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EN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                    MANTENIMIENTO</a:t>
                      </a:r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531107"/>
                  </a:ext>
                </a:extLst>
              </a:tr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ORQUESTADOR DE CLAVES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BANCA SERVICIAL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GRIS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POST-AUTH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INTERNO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2024-12-01 15:20:00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EN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2024-12-05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0469"/>
                  </a:ext>
                </a:extLst>
              </a:tr>
              <a:tr h="8618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FIRMA DIGITAL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REDONDA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2024-12-02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EN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2024-12-06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7019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BENEFICIARIOS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MINERA ESTALAGMITA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 Y 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2024-12-10 16:10:00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CREADO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71487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32462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2CAF9969-A614-98F3-D5DD-8F0518EB2523}"/>
              </a:ext>
            </a:extLst>
          </p:cNvPr>
          <p:cNvSpPr/>
          <p:nvPr/>
        </p:nvSpPr>
        <p:spPr>
          <a:xfrm>
            <a:off x="-2488557" y="2791010"/>
            <a:ext cx="2488557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AUTOGENERADO   - &gt;</a:t>
            </a:r>
            <a:endParaRPr lang="es-PE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B0BA1C6-BC9F-9280-8693-79E89A77545C}"/>
              </a:ext>
            </a:extLst>
          </p:cNvPr>
          <p:cNvSpPr/>
          <p:nvPr/>
        </p:nvSpPr>
        <p:spPr>
          <a:xfrm>
            <a:off x="9846342" y="3943393"/>
            <a:ext cx="1099800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ACTUALIZAR</a:t>
            </a:r>
            <a:endParaRPr lang="es-PE" sz="1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AABA768-1F57-D2A6-AD1E-9301FDCBB41F}"/>
              </a:ext>
            </a:extLst>
          </p:cNvPr>
          <p:cNvSpPr txBox="1"/>
          <p:nvPr/>
        </p:nvSpPr>
        <p:spPr>
          <a:xfrm>
            <a:off x="10623985" y="1388798"/>
            <a:ext cx="1378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VALIDADOR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847811-B368-1A5D-7059-3AC90E317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7818" y="181475"/>
            <a:ext cx="1019175" cy="115252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B449157A-BBE7-0DC0-1D4A-8041032E595C}"/>
              </a:ext>
            </a:extLst>
          </p:cNvPr>
          <p:cNvSpPr/>
          <p:nvPr/>
        </p:nvSpPr>
        <p:spPr>
          <a:xfrm>
            <a:off x="9846342" y="4666201"/>
            <a:ext cx="1099800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ACTUALIZAR</a:t>
            </a:r>
            <a:endParaRPr lang="es-PE" sz="12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FF622FE-16C0-20BC-F806-5DF2EFE62DEA}"/>
              </a:ext>
            </a:extLst>
          </p:cNvPr>
          <p:cNvSpPr/>
          <p:nvPr/>
        </p:nvSpPr>
        <p:spPr>
          <a:xfrm>
            <a:off x="9846342" y="5432049"/>
            <a:ext cx="1099800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ACTUALIZAR</a:t>
            </a:r>
            <a:endParaRPr lang="es-PE" sz="1200" dirty="0"/>
          </a:p>
        </p:txBody>
      </p:sp>
    </p:spTree>
    <p:extLst>
      <p:ext uri="{BB962C8B-B14F-4D97-AF65-F5344CB8AC3E}">
        <p14:creationId xmlns:p14="http://schemas.microsoft.com/office/powerpoint/2010/main" val="2265308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75220-C717-C76B-6EC2-F750FDAC3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51392AD-80AD-649E-5F24-4FCB62269A13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919F50F-ED7A-44E0-1CDE-B49AC5E24DAE}"/>
              </a:ext>
            </a:extLst>
          </p:cNvPr>
          <p:cNvSpPr>
            <a:spLocks/>
          </p:cNvSpPr>
          <p:nvPr/>
        </p:nvSpPr>
        <p:spPr>
          <a:xfrm>
            <a:off x="5279762" y="48674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EJECUCIÓN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F50478E-AA1B-3B42-1D5F-471257F1DEC9}"/>
              </a:ext>
            </a:extLst>
          </p:cNvPr>
          <p:cNvSpPr txBox="1"/>
          <p:nvPr/>
        </p:nvSpPr>
        <p:spPr>
          <a:xfrm>
            <a:off x="10623985" y="1388798"/>
            <a:ext cx="1378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VALIDADOR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942FFA-70E8-963A-BEFC-E6C6D27FB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477C76F-D465-3807-417F-2941D1BDE646}"/>
              </a:ext>
            </a:extLst>
          </p:cNvPr>
          <p:cNvSpPr txBox="1"/>
          <p:nvPr/>
        </p:nvSpPr>
        <p:spPr>
          <a:xfrm>
            <a:off x="4506881" y="245797"/>
            <a:ext cx="248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PROYECTO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E2326A9-BBC2-C639-A424-64DAEB29CFC6}"/>
              </a:ext>
            </a:extLst>
          </p:cNvPr>
          <p:cNvSpPr/>
          <p:nvPr/>
        </p:nvSpPr>
        <p:spPr>
          <a:xfrm>
            <a:off x="5279762" y="118029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AUTENTICACION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AA5F8FE-FC71-2595-E2AD-415EC1BC97ED}"/>
              </a:ext>
            </a:extLst>
          </p:cNvPr>
          <p:cNvSpPr/>
          <p:nvPr/>
        </p:nvSpPr>
        <p:spPr>
          <a:xfrm>
            <a:off x="3371355" y="6263521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ACTUALIZAR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CC3A799-7557-4470-A65B-4832D4331E65}"/>
              </a:ext>
            </a:extLst>
          </p:cNvPr>
          <p:cNvSpPr/>
          <p:nvPr/>
        </p:nvSpPr>
        <p:spPr>
          <a:xfrm>
            <a:off x="5878384" y="6272710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2662BEA-C969-9071-9D30-6C07B4FD4D93}"/>
              </a:ext>
            </a:extLst>
          </p:cNvPr>
          <p:cNvSpPr/>
          <p:nvPr/>
        </p:nvSpPr>
        <p:spPr>
          <a:xfrm>
            <a:off x="5279762" y="189509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ORIGEN DE PRUEBA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68A5D10-2768-46D8-7492-4C2D6F8F6A26}"/>
              </a:ext>
            </a:extLst>
          </p:cNvPr>
          <p:cNvSpPr/>
          <p:nvPr/>
        </p:nvSpPr>
        <p:spPr>
          <a:xfrm>
            <a:off x="5279761" y="257069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PRUEBAS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65309457-8F75-7518-CE7F-A367D4626D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21048" y="1671543"/>
            <a:ext cx="4542564" cy="50948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C00CA3C1-6AB6-F09C-3612-3285FDA372A4}"/>
              </a:ext>
            </a:extLst>
          </p:cNvPr>
          <p:cNvSpPr/>
          <p:nvPr/>
        </p:nvSpPr>
        <p:spPr>
          <a:xfrm>
            <a:off x="573658" y="1709269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ESCENARIO</a:t>
            </a:r>
            <a:endParaRPr lang="es-PE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E93B084F-597A-AA99-D961-CEEB2291C270}"/>
              </a:ext>
            </a:extLst>
          </p:cNvPr>
          <p:cNvSpPr>
            <a:spLocks/>
          </p:cNvSpPr>
          <p:nvPr/>
        </p:nvSpPr>
        <p:spPr>
          <a:xfrm>
            <a:off x="542117" y="48237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DEL PROYECTO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274F053-126C-433B-96CD-5F996BA957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48430" y="1093957"/>
            <a:ext cx="4542564" cy="50948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1F6A69E2-F086-C0EA-9FD5-2E5883478AB8}"/>
              </a:ext>
            </a:extLst>
          </p:cNvPr>
          <p:cNvSpPr/>
          <p:nvPr/>
        </p:nvSpPr>
        <p:spPr>
          <a:xfrm>
            <a:off x="573658" y="1129567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  <a:endParaRPr lang="es-PE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C6E4942-DB35-50DD-83B0-E60B06E8F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388" y="3985880"/>
            <a:ext cx="5105927" cy="2121188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3402BB70-72AA-8D3B-09D8-51B6199A5515}"/>
              </a:ext>
            </a:extLst>
          </p:cNvPr>
          <p:cNvSpPr/>
          <p:nvPr/>
        </p:nvSpPr>
        <p:spPr>
          <a:xfrm>
            <a:off x="3216388" y="4020042"/>
            <a:ext cx="4271531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ESCOGER ESTADO VALIDADO</a:t>
            </a:r>
            <a:endParaRPr lang="es-PE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031A669-968C-E135-70A1-A2ADF04BE9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772" b="28806"/>
          <a:stretch/>
        </p:blipFill>
        <p:spPr>
          <a:xfrm>
            <a:off x="3184848" y="4464832"/>
            <a:ext cx="5176832" cy="1382952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CDE9E6B8-09B6-0C35-8459-3883A9C3B4AF}"/>
              </a:ext>
            </a:extLst>
          </p:cNvPr>
          <p:cNvSpPr>
            <a:spLocks/>
          </p:cNvSpPr>
          <p:nvPr/>
        </p:nvSpPr>
        <p:spPr>
          <a:xfrm>
            <a:off x="3360807" y="4657484"/>
            <a:ext cx="4681958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VALIDOR OK</a:t>
            </a:r>
            <a:endParaRPr lang="es-PE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57C14BC-0088-047F-4EF8-D5A166EBF8A8}"/>
              </a:ext>
            </a:extLst>
          </p:cNvPr>
          <p:cNvSpPr>
            <a:spLocks/>
          </p:cNvSpPr>
          <p:nvPr/>
        </p:nvSpPr>
        <p:spPr>
          <a:xfrm>
            <a:off x="3360807" y="5341384"/>
            <a:ext cx="4681958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VALIDADO DEPENDE CLIENTE</a:t>
            </a:r>
            <a:endParaRPr lang="es-PE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68275D4-F1C6-C641-770C-FCD4BE4FE9A5}"/>
              </a:ext>
            </a:extLst>
          </p:cNvPr>
          <p:cNvSpPr>
            <a:spLocks/>
          </p:cNvSpPr>
          <p:nvPr/>
        </p:nvSpPr>
        <p:spPr>
          <a:xfrm>
            <a:off x="8711905" y="4771882"/>
            <a:ext cx="3090505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HORA REGISTRO DE VALIDADOR </a:t>
            </a:r>
            <a:endParaRPr lang="es-PE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10370CEA-50D8-52B8-55FA-83065665B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7818" y="181475"/>
            <a:ext cx="10191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329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49B1-5934-057C-8FB4-71408F4D0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1EBAAB6-6B4D-B039-2E99-B73D624BA777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D559757-2B70-8A97-A07E-99F6086AA5AB}"/>
              </a:ext>
            </a:extLst>
          </p:cNvPr>
          <p:cNvSpPr txBox="1"/>
          <p:nvPr/>
        </p:nvSpPr>
        <p:spPr>
          <a:xfrm>
            <a:off x="4318864" y="1207320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MANTENIMIENTO DE PROYECTOS</a:t>
            </a:r>
            <a:endParaRPr lang="es-PE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54ABD444-A562-7493-9D60-E6FC04750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649665"/>
              </p:ext>
            </p:extLst>
          </p:nvPr>
        </p:nvGraphicFramePr>
        <p:xfrm>
          <a:off x="107004" y="3153738"/>
          <a:ext cx="11948964" cy="3351233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08996">
                  <a:extLst>
                    <a:ext uri="{9D8B030D-6E8A-4147-A177-3AD203B41FA5}">
                      <a16:colId xmlns:a16="http://schemas.microsoft.com/office/drawing/2014/main" val="3053622161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491144692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7292988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6940447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884526593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95767454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3496397084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317252251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010072222"/>
                    </a:ext>
                  </a:extLst>
                </a:gridCol>
                <a:gridCol w="1860256">
                  <a:extLst>
                    <a:ext uri="{9D8B030D-6E8A-4147-A177-3AD203B41FA5}">
                      <a16:colId xmlns:a16="http://schemas.microsoft.com/office/drawing/2014/main" val="2384113708"/>
                    </a:ext>
                  </a:extLst>
                </a:gridCol>
                <a:gridCol w="1526616">
                  <a:extLst>
                    <a:ext uri="{9D8B030D-6E8A-4147-A177-3AD203B41FA5}">
                      <a16:colId xmlns:a16="http://schemas.microsoft.com/office/drawing/2014/main" val="883317745"/>
                    </a:ext>
                  </a:extLst>
                </a:gridCol>
                <a:gridCol w="1526616">
                  <a:extLst>
                    <a:ext uri="{9D8B030D-6E8A-4147-A177-3AD203B41FA5}">
                      <a16:colId xmlns:a16="http://schemas.microsoft.com/office/drawing/2014/main" val="2812726910"/>
                    </a:ext>
                  </a:extLst>
                </a:gridCol>
              </a:tblGrid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CODIGO DE AUDITORIA DE PROYECTO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NOMBRE PROYECTO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CLIENTE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 EJE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ORIG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TIPO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DE REGISTRO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ESTADO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INICIO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               </a:t>
                      </a: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TERMINO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MANTENIMIENTO</a:t>
                      </a:r>
                      <a:endParaRPr lang="es-P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531107"/>
                  </a:ext>
                </a:extLst>
              </a:tr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ORQUESTADOR DE CLAVES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BANCA SERVICIAL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GRIS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POST-AUTH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INTERNO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2024-12-01 15:20:00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VALIDADO OK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2024-12-05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0469"/>
                  </a:ext>
                </a:extLst>
              </a:tr>
              <a:tr h="8618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FIRMA DIGITAL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REDONDA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2024-12-02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VALIDADO DEPENDE CLIENTE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2024-12-06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7019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BENEFICIARIOS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MINERA ESTALAGMITA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 Y 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2024-12-10 16:10:00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CREADO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71487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32462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1C727207-3758-E522-31CD-B30661C25CD8}"/>
              </a:ext>
            </a:extLst>
          </p:cNvPr>
          <p:cNvSpPr/>
          <p:nvPr/>
        </p:nvSpPr>
        <p:spPr>
          <a:xfrm>
            <a:off x="-2488557" y="2791010"/>
            <a:ext cx="2488557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AUTOGENERADO   - &gt;</a:t>
            </a:r>
            <a:endParaRPr lang="es-PE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51E0593-E9C6-1CE4-73D2-12068AD975CF}"/>
              </a:ext>
            </a:extLst>
          </p:cNvPr>
          <p:cNvSpPr/>
          <p:nvPr/>
        </p:nvSpPr>
        <p:spPr>
          <a:xfrm>
            <a:off x="10868784" y="3922490"/>
            <a:ext cx="1099800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ACTUALIZAR</a:t>
            </a:r>
            <a:endParaRPr lang="es-PE" sz="12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1E352F-527C-33CA-B182-9D97CA246592}"/>
              </a:ext>
            </a:extLst>
          </p:cNvPr>
          <p:cNvSpPr txBox="1"/>
          <p:nvPr/>
        </p:nvSpPr>
        <p:spPr>
          <a:xfrm>
            <a:off x="10623985" y="1388798"/>
            <a:ext cx="1378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VALIDADOR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EDBB90F-0B1A-BF2F-7420-6DAC1D4D1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7818" y="181475"/>
            <a:ext cx="1019175" cy="115252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90C88A5-F3BC-B68F-0631-0FC80254E944}"/>
              </a:ext>
            </a:extLst>
          </p:cNvPr>
          <p:cNvSpPr/>
          <p:nvPr/>
        </p:nvSpPr>
        <p:spPr>
          <a:xfrm>
            <a:off x="10868784" y="4645298"/>
            <a:ext cx="1099800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ACTUALIZAR</a:t>
            </a:r>
            <a:endParaRPr lang="es-PE" sz="12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816D88F-0D2F-1E86-5FFB-66E062323B44}"/>
              </a:ext>
            </a:extLst>
          </p:cNvPr>
          <p:cNvSpPr/>
          <p:nvPr/>
        </p:nvSpPr>
        <p:spPr>
          <a:xfrm>
            <a:off x="10868784" y="5411146"/>
            <a:ext cx="1099800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ACTUALIZAR</a:t>
            </a:r>
            <a:endParaRPr lang="es-PE" sz="1200" dirty="0"/>
          </a:p>
        </p:txBody>
      </p:sp>
    </p:spTree>
    <p:extLst>
      <p:ext uri="{BB962C8B-B14F-4D97-AF65-F5344CB8AC3E}">
        <p14:creationId xmlns:p14="http://schemas.microsoft.com/office/powerpoint/2010/main" val="2222275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32F6F-D69E-C300-6CDC-6183B637E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7A7DA5F-9662-F9A7-92F3-D7BE1452125E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74F3328-D087-5715-B282-D992039198FD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ADCEBED-18AE-26ED-2CCF-320F14AAB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6AAD1D8-67FF-391B-2050-50A2594C7F60}"/>
              </a:ext>
            </a:extLst>
          </p:cNvPr>
          <p:cNvSpPr txBox="1"/>
          <p:nvPr/>
        </p:nvSpPr>
        <p:spPr>
          <a:xfrm>
            <a:off x="4318864" y="1207320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MANTENIMIENTO DE PROYECTOS</a:t>
            </a:r>
            <a:endParaRPr lang="es-PE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112A6F94-6336-76F5-E892-4C93CC626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698633"/>
              </p:ext>
            </p:extLst>
          </p:nvPr>
        </p:nvGraphicFramePr>
        <p:xfrm>
          <a:off x="107004" y="3153738"/>
          <a:ext cx="11948964" cy="3351233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08996">
                  <a:extLst>
                    <a:ext uri="{9D8B030D-6E8A-4147-A177-3AD203B41FA5}">
                      <a16:colId xmlns:a16="http://schemas.microsoft.com/office/drawing/2014/main" val="3053622161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491144692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7292988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6940447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884526593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95767454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3496397084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3172522512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3010072222"/>
                    </a:ext>
                  </a:extLst>
                </a:gridCol>
                <a:gridCol w="1860256">
                  <a:extLst>
                    <a:ext uri="{9D8B030D-6E8A-4147-A177-3AD203B41FA5}">
                      <a16:colId xmlns:a16="http://schemas.microsoft.com/office/drawing/2014/main" val="2384113708"/>
                    </a:ext>
                  </a:extLst>
                </a:gridCol>
                <a:gridCol w="1526616">
                  <a:extLst>
                    <a:ext uri="{9D8B030D-6E8A-4147-A177-3AD203B41FA5}">
                      <a16:colId xmlns:a16="http://schemas.microsoft.com/office/drawing/2014/main" val="883317745"/>
                    </a:ext>
                  </a:extLst>
                </a:gridCol>
                <a:gridCol w="1526616">
                  <a:extLst>
                    <a:ext uri="{9D8B030D-6E8A-4147-A177-3AD203B41FA5}">
                      <a16:colId xmlns:a16="http://schemas.microsoft.com/office/drawing/2014/main" val="3002795293"/>
                    </a:ext>
                  </a:extLst>
                </a:gridCol>
              </a:tblGrid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CODIGO DE AUDITORIA DE PROYECTO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NOMBRE PROYECTO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CLIENTE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 EJE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ORIG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TIPO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DE REGISTRO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ESTADO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EN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               </a:t>
                      </a: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TERMINO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MANTENIMIENTO</a:t>
                      </a:r>
                      <a:endParaRPr lang="es-P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531107"/>
                  </a:ext>
                </a:extLst>
              </a:tr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ORQUESTADOR DE CLAVES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BANCA SERVICIAL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GRIS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POST-AUTH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INTERNO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2024-12-01 15:20:00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VALIDADO OK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2024-12-05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0469"/>
                  </a:ext>
                </a:extLst>
              </a:tr>
              <a:tr h="8618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FIRMA DIGITAL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REDONDA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2024-12-02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VALIDADO DEPENDE CLIENTE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2024-12-06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7019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BENEFICIARIOS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MINERA ESTALAGMITA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 Y 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2024-12-10 16:10:00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CREADO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71487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32462"/>
                  </a:ext>
                </a:extLst>
              </a:tr>
            </a:tbl>
          </a:graphicData>
        </a:graphic>
      </p:graphicFrame>
      <p:sp>
        <p:nvSpPr>
          <p:cNvPr id="21" name="Rectángulo 20">
            <a:extLst>
              <a:ext uri="{FF2B5EF4-FFF2-40B4-BE49-F238E27FC236}">
                <a16:creationId xmlns:a16="http://schemas.microsoft.com/office/drawing/2014/main" id="{43EE67CC-F191-D7FE-75B2-F252DB7EF0D8}"/>
              </a:ext>
            </a:extLst>
          </p:cNvPr>
          <p:cNvSpPr/>
          <p:nvPr/>
        </p:nvSpPr>
        <p:spPr>
          <a:xfrm>
            <a:off x="11927840" y="3932239"/>
            <a:ext cx="250048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AA85CA8-538F-8C88-7D6E-61E5CAEA0ACD}"/>
              </a:ext>
            </a:extLst>
          </p:cNvPr>
          <p:cNvSpPr/>
          <p:nvPr/>
        </p:nvSpPr>
        <p:spPr>
          <a:xfrm>
            <a:off x="9066687" y="2622570"/>
            <a:ext cx="2659110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PROYECTOS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214E32C-FBF3-49E2-AA90-7443BBB2ADA7}"/>
              </a:ext>
            </a:extLst>
          </p:cNvPr>
          <p:cNvSpPr/>
          <p:nvPr/>
        </p:nvSpPr>
        <p:spPr>
          <a:xfrm>
            <a:off x="-2488557" y="2791010"/>
            <a:ext cx="2488557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AUTOGENERADO   - &gt;</a:t>
            </a:r>
            <a:endParaRPr lang="es-PE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101217A-9D42-50C4-6C29-77B3D195ADAF}"/>
              </a:ext>
            </a:extLst>
          </p:cNvPr>
          <p:cNvSpPr/>
          <p:nvPr/>
        </p:nvSpPr>
        <p:spPr>
          <a:xfrm>
            <a:off x="11105349" y="3932239"/>
            <a:ext cx="250047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V</a:t>
            </a:r>
            <a:endParaRPr lang="es-PE" sz="12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F1B8DCF-EF6D-F23C-7E1F-3B88C8A5A7BF}"/>
              </a:ext>
            </a:extLst>
          </p:cNvPr>
          <p:cNvSpPr/>
          <p:nvPr/>
        </p:nvSpPr>
        <p:spPr>
          <a:xfrm>
            <a:off x="11365055" y="3930833"/>
            <a:ext cx="292979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0496298-E70F-9114-47EF-318B49DB0151}"/>
              </a:ext>
            </a:extLst>
          </p:cNvPr>
          <p:cNvSpPr/>
          <p:nvPr/>
        </p:nvSpPr>
        <p:spPr>
          <a:xfrm>
            <a:off x="11667040" y="3930833"/>
            <a:ext cx="2500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</a:t>
            </a:r>
            <a:endParaRPr lang="es-PE" sz="12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B4E43C2-3949-2C95-9247-CE0D02387CE1}"/>
              </a:ext>
            </a:extLst>
          </p:cNvPr>
          <p:cNvSpPr/>
          <p:nvPr/>
        </p:nvSpPr>
        <p:spPr>
          <a:xfrm>
            <a:off x="10421706" y="3931062"/>
            <a:ext cx="250046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</a:t>
            </a:r>
            <a:endParaRPr lang="es-PE" sz="12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C2AFADC-ADDC-F634-53FD-2726E910AAA3}"/>
              </a:ext>
            </a:extLst>
          </p:cNvPr>
          <p:cNvSpPr/>
          <p:nvPr/>
        </p:nvSpPr>
        <p:spPr>
          <a:xfrm>
            <a:off x="10692145" y="3926969"/>
            <a:ext cx="394038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CS</a:t>
            </a:r>
            <a:endParaRPr lang="es-PE" sz="12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1F64BDF-B128-E16A-CEE3-FBDDC64D19D8}"/>
              </a:ext>
            </a:extLst>
          </p:cNvPr>
          <p:cNvSpPr/>
          <p:nvPr/>
        </p:nvSpPr>
        <p:spPr>
          <a:xfrm>
            <a:off x="11954369" y="4729883"/>
            <a:ext cx="250048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A5DF733-DECF-57A5-FB9A-F1CB021D9062}"/>
              </a:ext>
            </a:extLst>
          </p:cNvPr>
          <p:cNvSpPr/>
          <p:nvPr/>
        </p:nvSpPr>
        <p:spPr>
          <a:xfrm>
            <a:off x="11131878" y="4729883"/>
            <a:ext cx="250047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V</a:t>
            </a:r>
            <a:endParaRPr lang="es-PE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EB5786B-3E4E-C987-DCAD-A10C58824A4F}"/>
              </a:ext>
            </a:extLst>
          </p:cNvPr>
          <p:cNvSpPr/>
          <p:nvPr/>
        </p:nvSpPr>
        <p:spPr>
          <a:xfrm>
            <a:off x="11391584" y="4728477"/>
            <a:ext cx="292979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3D1CD98-7417-9C66-1975-597F7D4A12E7}"/>
              </a:ext>
            </a:extLst>
          </p:cNvPr>
          <p:cNvSpPr/>
          <p:nvPr/>
        </p:nvSpPr>
        <p:spPr>
          <a:xfrm>
            <a:off x="11693569" y="4728477"/>
            <a:ext cx="2500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</a:t>
            </a:r>
            <a:endParaRPr lang="es-PE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70BDE3B-4DFB-9F46-0D3A-1ADEF8A67BF0}"/>
              </a:ext>
            </a:extLst>
          </p:cNvPr>
          <p:cNvSpPr/>
          <p:nvPr/>
        </p:nvSpPr>
        <p:spPr>
          <a:xfrm>
            <a:off x="10448235" y="4728706"/>
            <a:ext cx="250046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</a:t>
            </a:r>
            <a:endParaRPr lang="es-PE" sz="1200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BBCFA69-D53C-6A5E-2D94-21B313FBC355}"/>
              </a:ext>
            </a:extLst>
          </p:cNvPr>
          <p:cNvSpPr/>
          <p:nvPr/>
        </p:nvSpPr>
        <p:spPr>
          <a:xfrm>
            <a:off x="10718674" y="4724613"/>
            <a:ext cx="394038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CS</a:t>
            </a:r>
            <a:endParaRPr lang="es-PE" sz="1200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D53B0FD-4CD0-2FD3-ADC4-2188C0D7AEAD}"/>
              </a:ext>
            </a:extLst>
          </p:cNvPr>
          <p:cNvSpPr/>
          <p:nvPr/>
        </p:nvSpPr>
        <p:spPr>
          <a:xfrm>
            <a:off x="11935203" y="5440948"/>
            <a:ext cx="250048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A842C8F0-FD74-CC15-2F9B-D40AC0DB9D41}"/>
              </a:ext>
            </a:extLst>
          </p:cNvPr>
          <p:cNvSpPr/>
          <p:nvPr/>
        </p:nvSpPr>
        <p:spPr>
          <a:xfrm>
            <a:off x="11112712" y="5440948"/>
            <a:ext cx="2500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V</a:t>
            </a:r>
            <a:endParaRPr lang="es-PE" sz="1200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E324CCB0-24A5-7189-DF92-C22CB4CEAB69}"/>
              </a:ext>
            </a:extLst>
          </p:cNvPr>
          <p:cNvSpPr/>
          <p:nvPr/>
        </p:nvSpPr>
        <p:spPr>
          <a:xfrm>
            <a:off x="11372418" y="5439542"/>
            <a:ext cx="292979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0A78EB36-9C9C-6BFA-91FC-E27AB345DF42}"/>
              </a:ext>
            </a:extLst>
          </p:cNvPr>
          <p:cNvSpPr/>
          <p:nvPr/>
        </p:nvSpPr>
        <p:spPr>
          <a:xfrm>
            <a:off x="11674403" y="5439542"/>
            <a:ext cx="2500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</a:t>
            </a:r>
            <a:endParaRPr lang="es-PE" sz="12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826102F-7719-6A18-0766-2D307AE5F77D}"/>
              </a:ext>
            </a:extLst>
          </p:cNvPr>
          <p:cNvSpPr/>
          <p:nvPr/>
        </p:nvSpPr>
        <p:spPr>
          <a:xfrm>
            <a:off x="10429069" y="5439771"/>
            <a:ext cx="250046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</a:t>
            </a:r>
            <a:endParaRPr lang="es-PE" sz="1200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AA3EFD2B-BC3F-8BA4-7CE5-EC8C5B821548}"/>
              </a:ext>
            </a:extLst>
          </p:cNvPr>
          <p:cNvSpPr/>
          <p:nvPr/>
        </p:nvSpPr>
        <p:spPr>
          <a:xfrm>
            <a:off x="10699508" y="5435678"/>
            <a:ext cx="39403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CS</a:t>
            </a:r>
            <a:endParaRPr lang="es-PE" sz="1200" dirty="0"/>
          </a:p>
        </p:txBody>
      </p:sp>
    </p:spTree>
    <p:extLst>
      <p:ext uri="{BB962C8B-B14F-4D97-AF65-F5344CB8AC3E}">
        <p14:creationId xmlns:p14="http://schemas.microsoft.com/office/powerpoint/2010/main" val="3397974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2EF58-5C86-2099-F882-DC75197A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B3041A0-133B-F89F-4549-587280575962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063B2F3-5AFE-7B6C-2C59-2368BF925870}"/>
              </a:ext>
            </a:extLst>
          </p:cNvPr>
          <p:cNvSpPr>
            <a:spLocks/>
          </p:cNvSpPr>
          <p:nvPr/>
        </p:nvSpPr>
        <p:spPr>
          <a:xfrm>
            <a:off x="5279762" y="48674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EJECUCIÓN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63E423A-F83B-9278-70C3-1B57D7FA1AAB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286278-E594-E0A1-58C0-8CAE17F8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A40CEBB-DFE1-ACBE-DB06-626AC0BF536D}"/>
              </a:ext>
            </a:extLst>
          </p:cNvPr>
          <p:cNvSpPr txBox="1"/>
          <p:nvPr/>
        </p:nvSpPr>
        <p:spPr>
          <a:xfrm>
            <a:off x="4506881" y="245797"/>
            <a:ext cx="248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PROYECTO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7797A2-E1CB-9857-AD2A-91034663266F}"/>
              </a:ext>
            </a:extLst>
          </p:cNvPr>
          <p:cNvSpPr/>
          <p:nvPr/>
        </p:nvSpPr>
        <p:spPr>
          <a:xfrm>
            <a:off x="5279762" y="118029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AUTENTICACION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F78D5A2-D169-4BC9-E66A-8FCFAC33140B}"/>
              </a:ext>
            </a:extLst>
          </p:cNvPr>
          <p:cNvSpPr/>
          <p:nvPr/>
        </p:nvSpPr>
        <p:spPr>
          <a:xfrm>
            <a:off x="3823647" y="6073191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SIGUIENTE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0C667DC-270D-798E-C3C4-D98524FAFB23}"/>
              </a:ext>
            </a:extLst>
          </p:cNvPr>
          <p:cNvSpPr/>
          <p:nvPr/>
        </p:nvSpPr>
        <p:spPr>
          <a:xfrm>
            <a:off x="6584444" y="6081710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80B536-B16A-0896-E55D-BD0EB2961131}"/>
              </a:ext>
            </a:extLst>
          </p:cNvPr>
          <p:cNvSpPr/>
          <p:nvPr/>
        </p:nvSpPr>
        <p:spPr>
          <a:xfrm>
            <a:off x="5279762" y="189509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ORIGEN DE PRUEBA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19B7CBC-72FF-2354-CC9E-E431407D042F}"/>
              </a:ext>
            </a:extLst>
          </p:cNvPr>
          <p:cNvSpPr/>
          <p:nvPr/>
        </p:nvSpPr>
        <p:spPr>
          <a:xfrm>
            <a:off x="5279761" y="257069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PRUEBAS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D5E66AD7-6217-931A-8623-CA049AA113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21048" y="1671543"/>
            <a:ext cx="4542564" cy="50948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BF16477A-F223-13FA-C00D-7A05A3A19A2D}"/>
              </a:ext>
            </a:extLst>
          </p:cNvPr>
          <p:cNvSpPr/>
          <p:nvPr/>
        </p:nvSpPr>
        <p:spPr>
          <a:xfrm>
            <a:off x="573658" y="1709269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ESCENARIO</a:t>
            </a:r>
            <a:endParaRPr lang="es-PE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80FC39B9-9EFB-3965-2FED-B76076DA3A65}"/>
              </a:ext>
            </a:extLst>
          </p:cNvPr>
          <p:cNvSpPr>
            <a:spLocks/>
          </p:cNvSpPr>
          <p:nvPr/>
        </p:nvSpPr>
        <p:spPr>
          <a:xfrm>
            <a:off x="542117" y="48237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DEL PROYECTO</a:t>
            </a:r>
            <a:endParaRPr lang="es-PE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B1CD970-D722-6090-CB6C-18524F78EC4C}"/>
              </a:ext>
            </a:extLst>
          </p:cNvPr>
          <p:cNvSpPr>
            <a:spLocks/>
          </p:cNvSpPr>
          <p:nvPr/>
        </p:nvSpPr>
        <p:spPr>
          <a:xfrm>
            <a:off x="4481027" y="4013476"/>
            <a:ext cx="3229946" cy="16583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ASGINAR VALIDADOR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A8648B6-D629-3D84-E3CE-CFEC3DAD29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48430" y="1093957"/>
            <a:ext cx="4542564" cy="50948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BF3A06D1-FDAB-B220-462E-3C377F424E1A}"/>
              </a:ext>
            </a:extLst>
          </p:cNvPr>
          <p:cNvSpPr/>
          <p:nvPr/>
        </p:nvSpPr>
        <p:spPr>
          <a:xfrm>
            <a:off x="573658" y="1129567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  <a:endParaRPr lang="es-PE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2934066-115C-4DEA-829B-E2B0E0F59B53}"/>
              </a:ext>
            </a:extLst>
          </p:cNvPr>
          <p:cNvSpPr txBox="1"/>
          <p:nvPr/>
        </p:nvSpPr>
        <p:spPr>
          <a:xfrm>
            <a:off x="3823647" y="3435890"/>
            <a:ext cx="4409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PROCESO DE ASIGNACION DE EJECUTOR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15989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3811-F867-DC4F-C4FC-A2A3F6980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460A5E6-2591-89C2-833C-2F238F9E33DB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FD6F61-B5EE-4BFF-1DAF-2999931084F5}"/>
              </a:ext>
            </a:extLst>
          </p:cNvPr>
          <p:cNvSpPr>
            <a:spLocks/>
          </p:cNvSpPr>
          <p:nvPr/>
        </p:nvSpPr>
        <p:spPr>
          <a:xfrm>
            <a:off x="5279762" y="48674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EJECUCIÓN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7EEFFC4-BD23-B35F-9E34-CE76E489B73F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61FFFA-5332-D124-8BB1-D0CC398C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1B22E7A-7EE7-8505-6406-5CEF6CE13B98}"/>
              </a:ext>
            </a:extLst>
          </p:cNvPr>
          <p:cNvSpPr txBox="1"/>
          <p:nvPr/>
        </p:nvSpPr>
        <p:spPr>
          <a:xfrm>
            <a:off x="4506881" y="245797"/>
            <a:ext cx="248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PROYECTO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373CB69-E2D9-1D83-97F8-1A3ABBC0ACF4}"/>
              </a:ext>
            </a:extLst>
          </p:cNvPr>
          <p:cNvSpPr/>
          <p:nvPr/>
        </p:nvSpPr>
        <p:spPr>
          <a:xfrm>
            <a:off x="5279762" y="118029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AUTENTICACION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876A729-A8C6-49B3-4611-DE82CD042D04}"/>
              </a:ext>
            </a:extLst>
          </p:cNvPr>
          <p:cNvSpPr/>
          <p:nvPr/>
        </p:nvSpPr>
        <p:spPr>
          <a:xfrm>
            <a:off x="5279762" y="189509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ORIGEN DE PRUEBA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D985350-61C3-EEAD-E1A5-E9903B163700}"/>
              </a:ext>
            </a:extLst>
          </p:cNvPr>
          <p:cNvSpPr/>
          <p:nvPr/>
        </p:nvSpPr>
        <p:spPr>
          <a:xfrm>
            <a:off x="5279761" y="257069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PRUEBAS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FE0D0495-6FA7-E875-371C-B53EE3463D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21048" y="1671543"/>
            <a:ext cx="4542564" cy="50948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5157CFE2-8A60-C0A2-B204-FAD25CCAEB4D}"/>
              </a:ext>
            </a:extLst>
          </p:cNvPr>
          <p:cNvSpPr/>
          <p:nvPr/>
        </p:nvSpPr>
        <p:spPr>
          <a:xfrm>
            <a:off x="573658" y="1709269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ESCENARIO</a:t>
            </a:r>
            <a:endParaRPr lang="es-PE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CDF027EB-1A7F-9CC5-BA67-7FD11D734875}"/>
              </a:ext>
            </a:extLst>
          </p:cNvPr>
          <p:cNvSpPr>
            <a:spLocks/>
          </p:cNvSpPr>
          <p:nvPr/>
        </p:nvSpPr>
        <p:spPr>
          <a:xfrm>
            <a:off x="542117" y="48237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DEL PROYECTO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0269B17-EC22-448C-52F2-B46439B82B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48430" y="1093957"/>
            <a:ext cx="4542564" cy="50948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1452139D-8719-BBFB-5627-0762FFCD879E}"/>
              </a:ext>
            </a:extLst>
          </p:cNvPr>
          <p:cNvSpPr/>
          <p:nvPr/>
        </p:nvSpPr>
        <p:spPr>
          <a:xfrm>
            <a:off x="573658" y="1129567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  <a:endParaRPr lang="es-PE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DEDE54C-9609-6114-1B90-A45A5020438A}"/>
              </a:ext>
            </a:extLst>
          </p:cNvPr>
          <p:cNvSpPr/>
          <p:nvPr/>
        </p:nvSpPr>
        <p:spPr>
          <a:xfrm>
            <a:off x="3371355" y="6263521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SEGUIENTE</a:t>
            </a:r>
            <a:endParaRPr lang="es-PE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E164071-BDB7-4C07-D1BF-B04EA4F756BC}"/>
              </a:ext>
            </a:extLst>
          </p:cNvPr>
          <p:cNvSpPr/>
          <p:nvPr/>
        </p:nvSpPr>
        <p:spPr>
          <a:xfrm>
            <a:off x="5878384" y="6272710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6FC538A-5141-98B0-BFEB-27EEF322BD12}"/>
              </a:ext>
            </a:extLst>
          </p:cNvPr>
          <p:cNvSpPr>
            <a:spLocks/>
          </p:cNvSpPr>
          <p:nvPr/>
        </p:nvSpPr>
        <p:spPr>
          <a:xfrm>
            <a:off x="3184848" y="3347911"/>
            <a:ext cx="5054526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ASIGNAR EJECUTOR</a:t>
            </a:r>
            <a:endParaRPr lang="es-PE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45EAAC5-450C-9827-0AE7-6651B2227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388" y="3985880"/>
            <a:ext cx="5105927" cy="2121188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343F606B-9589-D258-8108-014A7C8844A8}"/>
              </a:ext>
            </a:extLst>
          </p:cNvPr>
          <p:cNvSpPr/>
          <p:nvPr/>
        </p:nvSpPr>
        <p:spPr>
          <a:xfrm>
            <a:off x="3216388" y="4020042"/>
            <a:ext cx="4469202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ESCOGER CONSULTOR QUIEN EJECUTARA</a:t>
            </a:r>
            <a:endParaRPr lang="es-PE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AB861AC1-C5DB-4DB7-C95F-09CE42CEA0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772" b="28806"/>
          <a:stretch/>
        </p:blipFill>
        <p:spPr>
          <a:xfrm>
            <a:off x="3184848" y="4464832"/>
            <a:ext cx="5176832" cy="1382952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5B9F678E-5282-D205-D183-C210562C47A4}"/>
              </a:ext>
            </a:extLst>
          </p:cNvPr>
          <p:cNvSpPr>
            <a:spLocks/>
          </p:cNvSpPr>
          <p:nvPr/>
        </p:nvSpPr>
        <p:spPr>
          <a:xfrm>
            <a:off x="3360807" y="4657484"/>
            <a:ext cx="4681958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BRAYAN RODRIGUEZ</a:t>
            </a:r>
            <a:endParaRPr lang="es-PE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DBDB14F-67E4-1527-B341-B2D2DCF522EA}"/>
              </a:ext>
            </a:extLst>
          </p:cNvPr>
          <p:cNvSpPr>
            <a:spLocks/>
          </p:cNvSpPr>
          <p:nvPr/>
        </p:nvSpPr>
        <p:spPr>
          <a:xfrm>
            <a:off x="3360807" y="5341384"/>
            <a:ext cx="4681958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CELIA PEREZ</a:t>
            </a:r>
            <a:endParaRPr lang="es-PE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08197B6-934C-707D-930B-75B840B05A94}"/>
              </a:ext>
            </a:extLst>
          </p:cNvPr>
          <p:cNvSpPr>
            <a:spLocks/>
          </p:cNvSpPr>
          <p:nvPr/>
        </p:nvSpPr>
        <p:spPr>
          <a:xfrm>
            <a:off x="8711905" y="4771882"/>
            <a:ext cx="3090505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HORA REGISTRO DE EJECUCION </a:t>
            </a:r>
            <a:endParaRPr lang="es-PE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02595B8-C3F9-2E07-4DE4-3C3490B91725}"/>
              </a:ext>
            </a:extLst>
          </p:cNvPr>
          <p:cNvSpPr>
            <a:spLocks/>
          </p:cNvSpPr>
          <p:nvPr/>
        </p:nvSpPr>
        <p:spPr>
          <a:xfrm>
            <a:off x="8711905" y="5535270"/>
            <a:ext cx="3090505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HORA REGISTRO PROGRAMADO A EJECUTAR</a:t>
            </a:r>
            <a:endParaRPr lang="es-PE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5F4102D-5D55-4F95-050D-623CB0F55106}"/>
              </a:ext>
            </a:extLst>
          </p:cNvPr>
          <p:cNvSpPr>
            <a:spLocks/>
          </p:cNvSpPr>
          <p:nvPr/>
        </p:nvSpPr>
        <p:spPr>
          <a:xfrm>
            <a:off x="8711904" y="6195528"/>
            <a:ext cx="3090505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CANTIDAD DE DIAS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72730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FCDA6-1A10-B99E-2172-DF78776DD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BCF652C-49E5-DF1B-D2FC-6A814D35D2D2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A9ED4B1-9EF2-228D-F4C2-0D7364374F72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D67C42-7986-AF7E-83BC-DE95B1CF8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80592E6-2753-F049-CBE1-F9C3B36E0FF6}"/>
              </a:ext>
            </a:extLst>
          </p:cNvPr>
          <p:cNvSpPr txBox="1"/>
          <p:nvPr/>
        </p:nvSpPr>
        <p:spPr>
          <a:xfrm>
            <a:off x="4318864" y="1207320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MANTENIMIENTO DE PROYECTOS</a:t>
            </a:r>
            <a:endParaRPr lang="es-PE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E8F6F645-78E4-B996-0CA1-FFB497036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943965"/>
              </p:ext>
            </p:extLst>
          </p:nvPr>
        </p:nvGraphicFramePr>
        <p:xfrm>
          <a:off x="107004" y="3153738"/>
          <a:ext cx="11948965" cy="379815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08996">
                  <a:extLst>
                    <a:ext uri="{9D8B030D-6E8A-4147-A177-3AD203B41FA5}">
                      <a16:colId xmlns:a16="http://schemas.microsoft.com/office/drawing/2014/main" val="3053622161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491144692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7292988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6940447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884526593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957674542"/>
                    </a:ext>
                  </a:extLst>
                </a:gridCol>
                <a:gridCol w="606385">
                  <a:extLst>
                    <a:ext uri="{9D8B030D-6E8A-4147-A177-3AD203B41FA5}">
                      <a16:colId xmlns:a16="http://schemas.microsoft.com/office/drawing/2014/main" val="3496397084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3172522512"/>
                    </a:ext>
                  </a:extLst>
                </a:gridCol>
                <a:gridCol w="706056">
                  <a:extLst>
                    <a:ext uri="{9D8B030D-6E8A-4147-A177-3AD203B41FA5}">
                      <a16:colId xmlns:a16="http://schemas.microsoft.com/office/drawing/2014/main" val="3010072222"/>
                    </a:ext>
                  </a:extLst>
                </a:gridCol>
                <a:gridCol w="659757">
                  <a:extLst>
                    <a:ext uri="{9D8B030D-6E8A-4147-A177-3AD203B41FA5}">
                      <a16:colId xmlns:a16="http://schemas.microsoft.com/office/drawing/2014/main" val="2384113708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883317745"/>
                    </a:ext>
                  </a:extLst>
                </a:gridCol>
                <a:gridCol w="613459">
                  <a:extLst>
                    <a:ext uri="{9D8B030D-6E8A-4147-A177-3AD203B41FA5}">
                      <a16:colId xmlns:a16="http://schemas.microsoft.com/office/drawing/2014/main" val="3002795293"/>
                    </a:ext>
                  </a:extLst>
                </a:gridCol>
                <a:gridCol w="879675">
                  <a:extLst>
                    <a:ext uri="{9D8B030D-6E8A-4147-A177-3AD203B41FA5}">
                      <a16:colId xmlns:a16="http://schemas.microsoft.com/office/drawing/2014/main" val="2620154629"/>
                    </a:ext>
                  </a:extLst>
                </a:gridCol>
                <a:gridCol w="1172405">
                  <a:extLst>
                    <a:ext uri="{9D8B030D-6E8A-4147-A177-3AD203B41FA5}">
                      <a16:colId xmlns:a16="http://schemas.microsoft.com/office/drawing/2014/main" val="593911267"/>
                    </a:ext>
                  </a:extLst>
                </a:gridCol>
                <a:gridCol w="1172405">
                  <a:extLst>
                    <a:ext uri="{9D8B030D-6E8A-4147-A177-3AD203B41FA5}">
                      <a16:colId xmlns:a16="http://schemas.microsoft.com/office/drawing/2014/main" val="634924859"/>
                    </a:ext>
                  </a:extLst>
                </a:gridCol>
              </a:tblGrid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CODIGO DE AUDITORIA DE PROYECTO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NOMBRE PROYECTO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CLIENTE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 EJE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ORIG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TIPO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DE REGISTRO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ESTADO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EN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               </a:t>
                      </a: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TERMINO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FECHA Y HORA EN “POR EJECUTAR”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FECHA Y PROGRAMADO A EJECUTAR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/>
                    </a:p>
                    <a:p>
                      <a:r>
                        <a:rPr lang="es-PE" sz="900" dirty="0"/>
                        <a:t>CAN DIAS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MANTENIMIENTO</a:t>
                      </a:r>
                      <a:endParaRPr lang="es-P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531107"/>
                  </a:ext>
                </a:extLst>
              </a:tr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ORQUESTADOR DE CLAVES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BANCA SERVICIAL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GRIS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POST-AUTH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INTERNO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2024-12-01 15:20:00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POR EJECUTAR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2024-12-05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2024-12-08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2024-12-09 09:00:00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2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0469"/>
                  </a:ext>
                </a:extLst>
              </a:tr>
              <a:tr h="8618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FIRMA DIGITAL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REDONDA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2024-12-02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VALIDADO DEPENDE CLIENTE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2024-12-06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7019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BENEFICIARIOS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MINERA ESTALAGMITA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 Y 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2024-12-10 16:10:00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CREADO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71487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32462"/>
                  </a:ext>
                </a:extLst>
              </a:tr>
            </a:tbl>
          </a:graphicData>
        </a:graphic>
      </p:graphicFrame>
      <p:sp>
        <p:nvSpPr>
          <p:cNvPr id="21" name="Rectángulo 20">
            <a:extLst>
              <a:ext uri="{FF2B5EF4-FFF2-40B4-BE49-F238E27FC236}">
                <a16:creationId xmlns:a16="http://schemas.microsoft.com/office/drawing/2014/main" id="{CC236440-B30E-BC4C-2D67-50B7EAC137AA}"/>
              </a:ext>
            </a:extLst>
          </p:cNvPr>
          <p:cNvSpPr/>
          <p:nvPr/>
        </p:nvSpPr>
        <p:spPr>
          <a:xfrm>
            <a:off x="11927840" y="3932239"/>
            <a:ext cx="250048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D84980A-873F-22B1-CF21-1AFFD7F10820}"/>
              </a:ext>
            </a:extLst>
          </p:cNvPr>
          <p:cNvSpPr/>
          <p:nvPr/>
        </p:nvSpPr>
        <p:spPr>
          <a:xfrm>
            <a:off x="9066687" y="2622570"/>
            <a:ext cx="2659110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PROYECTOS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78A87ED-6806-A47B-E43D-016E0D9A49E9}"/>
              </a:ext>
            </a:extLst>
          </p:cNvPr>
          <p:cNvSpPr/>
          <p:nvPr/>
        </p:nvSpPr>
        <p:spPr>
          <a:xfrm>
            <a:off x="-2488557" y="2791010"/>
            <a:ext cx="2488557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AUTOGENERADO   - &gt;</a:t>
            </a:r>
            <a:endParaRPr lang="es-PE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08F0B84-54D3-5449-FE20-E8DBC82890EF}"/>
              </a:ext>
            </a:extLst>
          </p:cNvPr>
          <p:cNvSpPr/>
          <p:nvPr/>
        </p:nvSpPr>
        <p:spPr>
          <a:xfrm>
            <a:off x="11105349" y="3932239"/>
            <a:ext cx="250047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V</a:t>
            </a:r>
            <a:endParaRPr lang="es-PE" sz="12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DEBD1EF-A33D-A035-95DB-8FC69D83D190}"/>
              </a:ext>
            </a:extLst>
          </p:cNvPr>
          <p:cNvSpPr/>
          <p:nvPr/>
        </p:nvSpPr>
        <p:spPr>
          <a:xfrm>
            <a:off x="11365055" y="3930833"/>
            <a:ext cx="292979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6289DA-D721-1C70-B54D-52A979A6DEC9}"/>
              </a:ext>
            </a:extLst>
          </p:cNvPr>
          <p:cNvSpPr/>
          <p:nvPr/>
        </p:nvSpPr>
        <p:spPr>
          <a:xfrm>
            <a:off x="11667040" y="3930833"/>
            <a:ext cx="2500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</a:t>
            </a:r>
            <a:endParaRPr lang="es-PE" sz="12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A706BE5-807B-2006-2544-D3BCBE660611}"/>
              </a:ext>
            </a:extLst>
          </p:cNvPr>
          <p:cNvSpPr/>
          <p:nvPr/>
        </p:nvSpPr>
        <p:spPr>
          <a:xfrm>
            <a:off x="10421706" y="3931062"/>
            <a:ext cx="250046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</a:t>
            </a:r>
            <a:endParaRPr lang="es-PE" sz="12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8B4CF3D-C4E8-9C9D-2580-34BEDA02DA60}"/>
              </a:ext>
            </a:extLst>
          </p:cNvPr>
          <p:cNvSpPr/>
          <p:nvPr/>
        </p:nvSpPr>
        <p:spPr>
          <a:xfrm>
            <a:off x="10692145" y="3926969"/>
            <a:ext cx="394038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CS</a:t>
            </a:r>
            <a:endParaRPr lang="es-PE" sz="12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9DF6435-7917-6B32-4DF9-386520E42BDF}"/>
              </a:ext>
            </a:extLst>
          </p:cNvPr>
          <p:cNvSpPr/>
          <p:nvPr/>
        </p:nvSpPr>
        <p:spPr>
          <a:xfrm>
            <a:off x="11954369" y="4729883"/>
            <a:ext cx="250048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39621FF-D4D9-EAAE-E861-50798C04B32A}"/>
              </a:ext>
            </a:extLst>
          </p:cNvPr>
          <p:cNvSpPr/>
          <p:nvPr/>
        </p:nvSpPr>
        <p:spPr>
          <a:xfrm>
            <a:off x="11131878" y="4729883"/>
            <a:ext cx="250047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V</a:t>
            </a:r>
            <a:endParaRPr lang="es-PE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CF44E07-6192-612E-446F-9429B43ED058}"/>
              </a:ext>
            </a:extLst>
          </p:cNvPr>
          <p:cNvSpPr/>
          <p:nvPr/>
        </p:nvSpPr>
        <p:spPr>
          <a:xfrm>
            <a:off x="11391584" y="4728477"/>
            <a:ext cx="292979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D7A4AA-F151-A845-6738-49961357CCE7}"/>
              </a:ext>
            </a:extLst>
          </p:cNvPr>
          <p:cNvSpPr/>
          <p:nvPr/>
        </p:nvSpPr>
        <p:spPr>
          <a:xfrm>
            <a:off x="11693569" y="4728477"/>
            <a:ext cx="2500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</a:t>
            </a:r>
            <a:endParaRPr lang="es-PE" sz="1200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D68277A0-BD32-E082-BBFA-E94ADEF0B947}"/>
              </a:ext>
            </a:extLst>
          </p:cNvPr>
          <p:cNvSpPr/>
          <p:nvPr/>
        </p:nvSpPr>
        <p:spPr>
          <a:xfrm>
            <a:off x="10448235" y="4728706"/>
            <a:ext cx="250046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</a:t>
            </a:r>
            <a:endParaRPr lang="es-PE" sz="1200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8220DF2-B170-CE88-C905-532C0E7D54A9}"/>
              </a:ext>
            </a:extLst>
          </p:cNvPr>
          <p:cNvSpPr/>
          <p:nvPr/>
        </p:nvSpPr>
        <p:spPr>
          <a:xfrm>
            <a:off x="10718674" y="4724613"/>
            <a:ext cx="394038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CS</a:t>
            </a:r>
            <a:endParaRPr lang="es-PE" sz="1200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A49BAB7-87A3-39B1-D065-20FF2CC67397}"/>
              </a:ext>
            </a:extLst>
          </p:cNvPr>
          <p:cNvSpPr/>
          <p:nvPr/>
        </p:nvSpPr>
        <p:spPr>
          <a:xfrm>
            <a:off x="11935203" y="5440948"/>
            <a:ext cx="250048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AEC9841-3EC3-F1B4-A80A-2DAD0DD6B5C2}"/>
              </a:ext>
            </a:extLst>
          </p:cNvPr>
          <p:cNvSpPr/>
          <p:nvPr/>
        </p:nvSpPr>
        <p:spPr>
          <a:xfrm>
            <a:off x="11112712" y="5440948"/>
            <a:ext cx="2500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V</a:t>
            </a:r>
            <a:endParaRPr lang="es-PE" sz="1200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ED179F4-AB65-06D3-3B8B-D9C081750A9C}"/>
              </a:ext>
            </a:extLst>
          </p:cNvPr>
          <p:cNvSpPr/>
          <p:nvPr/>
        </p:nvSpPr>
        <p:spPr>
          <a:xfrm>
            <a:off x="11372418" y="5439542"/>
            <a:ext cx="292979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8EE3B9AF-2C03-A83C-A064-C455E13B7B6E}"/>
              </a:ext>
            </a:extLst>
          </p:cNvPr>
          <p:cNvSpPr/>
          <p:nvPr/>
        </p:nvSpPr>
        <p:spPr>
          <a:xfrm>
            <a:off x="11674403" y="5439542"/>
            <a:ext cx="2500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</a:t>
            </a:r>
            <a:endParaRPr lang="es-PE" sz="1200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1F009AC5-C0B1-86EA-D912-6F733CDC6BFF}"/>
              </a:ext>
            </a:extLst>
          </p:cNvPr>
          <p:cNvSpPr/>
          <p:nvPr/>
        </p:nvSpPr>
        <p:spPr>
          <a:xfrm>
            <a:off x="10429069" y="5439771"/>
            <a:ext cx="250046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</a:t>
            </a:r>
            <a:endParaRPr lang="es-PE" sz="1200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15EF533B-448D-4E22-92A3-BA75A7C7D0D7}"/>
              </a:ext>
            </a:extLst>
          </p:cNvPr>
          <p:cNvSpPr/>
          <p:nvPr/>
        </p:nvSpPr>
        <p:spPr>
          <a:xfrm>
            <a:off x="10699508" y="5435678"/>
            <a:ext cx="39403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CS</a:t>
            </a:r>
            <a:endParaRPr lang="es-PE" sz="1200" dirty="0"/>
          </a:p>
        </p:txBody>
      </p:sp>
    </p:spTree>
    <p:extLst>
      <p:ext uri="{BB962C8B-B14F-4D97-AF65-F5344CB8AC3E}">
        <p14:creationId xmlns:p14="http://schemas.microsoft.com/office/powerpoint/2010/main" val="3736531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4027D-2860-3718-A227-5C332D968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4B570C1-9FBC-AED3-136A-329B9A5CD509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F56D0D0-0A96-3FBC-D7F3-7AE21CA3CEDD}"/>
              </a:ext>
            </a:extLst>
          </p:cNvPr>
          <p:cNvSpPr txBox="1"/>
          <p:nvPr/>
        </p:nvSpPr>
        <p:spPr>
          <a:xfrm>
            <a:off x="10809190" y="1464695"/>
            <a:ext cx="1243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EJECUTOR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BB437B-3076-4DB0-24AA-E64A5D45F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5E39629-83F5-9308-DF28-E75ED3D1D21A}"/>
              </a:ext>
            </a:extLst>
          </p:cNvPr>
          <p:cNvSpPr txBox="1"/>
          <p:nvPr/>
        </p:nvSpPr>
        <p:spPr>
          <a:xfrm>
            <a:off x="4318864" y="1207320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MANTENIMIENTO DE PROYECTOS</a:t>
            </a:r>
            <a:endParaRPr lang="es-PE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4D1C9417-F351-6C82-4DF7-032E9BA92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135231"/>
              </p:ext>
            </p:extLst>
          </p:nvPr>
        </p:nvGraphicFramePr>
        <p:xfrm>
          <a:off x="107004" y="3153738"/>
          <a:ext cx="11948966" cy="366099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08996">
                  <a:extLst>
                    <a:ext uri="{9D8B030D-6E8A-4147-A177-3AD203B41FA5}">
                      <a16:colId xmlns:a16="http://schemas.microsoft.com/office/drawing/2014/main" val="3053622161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491144692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7292988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6940447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884526593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957674542"/>
                    </a:ext>
                  </a:extLst>
                </a:gridCol>
                <a:gridCol w="606385">
                  <a:extLst>
                    <a:ext uri="{9D8B030D-6E8A-4147-A177-3AD203B41FA5}">
                      <a16:colId xmlns:a16="http://schemas.microsoft.com/office/drawing/2014/main" val="3496397084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3172522512"/>
                    </a:ext>
                  </a:extLst>
                </a:gridCol>
                <a:gridCol w="706056">
                  <a:extLst>
                    <a:ext uri="{9D8B030D-6E8A-4147-A177-3AD203B41FA5}">
                      <a16:colId xmlns:a16="http://schemas.microsoft.com/office/drawing/2014/main" val="3010072222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2384113708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883317745"/>
                    </a:ext>
                  </a:extLst>
                </a:gridCol>
                <a:gridCol w="960699">
                  <a:extLst>
                    <a:ext uri="{9D8B030D-6E8A-4147-A177-3AD203B41FA5}">
                      <a16:colId xmlns:a16="http://schemas.microsoft.com/office/drawing/2014/main" val="3002795293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593911267"/>
                    </a:ext>
                  </a:extLst>
                </a:gridCol>
                <a:gridCol w="894613">
                  <a:extLst>
                    <a:ext uri="{9D8B030D-6E8A-4147-A177-3AD203B41FA5}">
                      <a16:colId xmlns:a16="http://schemas.microsoft.com/office/drawing/2014/main" val="106531747"/>
                    </a:ext>
                  </a:extLst>
                </a:gridCol>
                <a:gridCol w="894613">
                  <a:extLst>
                    <a:ext uri="{9D8B030D-6E8A-4147-A177-3AD203B41FA5}">
                      <a16:colId xmlns:a16="http://schemas.microsoft.com/office/drawing/2014/main" val="2017209504"/>
                    </a:ext>
                  </a:extLst>
                </a:gridCol>
              </a:tblGrid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CODIGO DE AUDITORIA DE PROYECTO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NOMBRE PROYECTO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CLIENTE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 EJE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ORIG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TIPO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DE REGISTRO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ESTADO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EN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               </a:t>
                      </a: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TERMINO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FECHA Y HORA EN “POR EJECUTAR”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FECHA Y PROGRAMADO A EJECUTAR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CANT DIAS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MANTENIMIENTO</a:t>
                      </a:r>
                      <a:endParaRPr lang="es-PE" sz="900" dirty="0"/>
                    </a:p>
                    <a:p>
                      <a:endParaRPr lang="es-P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531107"/>
                  </a:ext>
                </a:extLst>
              </a:tr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ORQUESTADOR DE CLAVES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BANCA SERVICIAL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GRIS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POST-AUTH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INTERNO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2024-12-01 15:20:00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POR EJECUTAR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2024-12-05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2024-12-08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2024-12-09 09:00:00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2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0469"/>
                  </a:ext>
                </a:extLst>
              </a:tr>
              <a:tr h="8618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FIRMA DIGITAL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REDONDA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2024-12-02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VALIDADO DEPENDE CLIENTE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2024-12-06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7019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BENEFICIARIOS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MINERA ESTALAGMITA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 Y 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2024-12-10 16:10:00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CREADO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71487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32462"/>
                  </a:ext>
                </a:extLst>
              </a:tr>
            </a:tbl>
          </a:graphicData>
        </a:graphic>
      </p:graphicFrame>
      <p:sp>
        <p:nvSpPr>
          <p:cNvPr id="24" name="Rectángulo 23">
            <a:extLst>
              <a:ext uri="{FF2B5EF4-FFF2-40B4-BE49-F238E27FC236}">
                <a16:creationId xmlns:a16="http://schemas.microsoft.com/office/drawing/2014/main" id="{70875427-6846-7FDC-0176-00C27573B7F8}"/>
              </a:ext>
            </a:extLst>
          </p:cNvPr>
          <p:cNvSpPr/>
          <p:nvPr/>
        </p:nvSpPr>
        <p:spPr>
          <a:xfrm>
            <a:off x="9066687" y="2622570"/>
            <a:ext cx="2659110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PROYECTOS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880C2BE-9E7D-1B68-218D-5E628A4588CE}"/>
              </a:ext>
            </a:extLst>
          </p:cNvPr>
          <p:cNvSpPr/>
          <p:nvPr/>
        </p:nvSpPr>
        <p:spPr>
          <a:xfrm>
            <a:off x="-2488557" y="2791010"/>
            <a:ext cx="2488557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AUTOGENERADO   - &gt;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CB7C7B-E3B5-007D-3621-616F62D97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1332" y="197127"/>
            <a:ext cx="990600" cy="1143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040EFF4-E422-D355-B34A-33B04232C9B6}"/>
              </a:ext>
            </a:extLst>
          </p:cNvPr>
          <p:cNvSpPr/>
          <p:nvPr/>
        </p:nvSpPr>
        <p:spPr>
          <a:xfrm>
            <a:off x="11539731" y="3825175"/>
            <a:ext cx="565073" cy="6467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CARGAR EVIDENCIAS</a:t>
            </a:r>
            <a:endParaRPr lang="es-PE" sz="9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0984AA0-9800-B874-596F-B089F5D784B1}"/>
              </a:ext>
            </a:extLst>
          </p:cNvPr>
          <p:cNvSpPr/>
          <p:nvPr/>
        </p:nvSpPr>
        <p:spPr>
          <a:xfrm>
            <a:off x="10896170" y="3825177"/>
            <a:ext cx="565073" cy="6467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INCIDENCIAS</a:t>
            </a:r>
            <a:endParaRPr lang="es-PE" sz="9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DF82E33-8A2C-73B0-B502-53DB12228251}"/>
              </a:ext>
            </a:extLst>
          </p:cNvPr>
          <p:cNvSpPr/>
          <p:nvPr/>
        </p:nvSpPr>
        <p:spPr>
          <a:xfrm>
            <a:off x="11537414" y="4589064"/>
            <a:ext cx="565073" cy="6467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CARGAR EVIDENCIAS</a:t>
            </a:r>
            <a:endParaRPr lang="es-PE" sz="9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2AFC4DA-48FE-0F58-93EA-C0C2478BB9CC}"/>
              </a:ext>
            </a:extLst>
          </p:cNvPr>
          <p:cNvSpPr/>
          <p:nvPr/>
        </p:nvSpPr>
        <p:spPr>
          <a:xfrm>
            <a:off x="10893853" y="4589066"/>
            <a:ext cx="565073" cy="6467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INCIDENCIAS</a:t>
            </a:r>
            <a:endParaRPr lang="es-PE" sz="9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407C1CE-4896-A1C5-405F-D761ED6BB369}"/>
              </a:ext>
            </a:extLst>
          </p:cNvPr>
          <p:cNvSpPr/>
          <p:nvPr/>
        </p:nvSpPr>
        <p:spPr>
          <a:xfrm>
            <a:off x="11537414" y="5352953"/>
            <a:ext cx="565073" cy="6467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CARGAR EVIDENCIAS</a:t>
            </a:r>
            <a:endParaRPr lang="es-PE" sz="9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0F25AA0-E9F3-A3B8-17B7-AE7D34E3419D}"/>
              </a:ext>
            </a:extLst>
          </p:cNvPr>
          <p:cNvSpPr/>
          <p:nvPr/>
        </p:nvSpPr>
        <p:spPr>
          <a:xfrm>
            <a:off x="10893853" y="5352955"/>
            <a:ext cx="565073" cy="6467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INCIDENCIAS</a:t>
            </a:r>
            <a:endParaRPr lang="es-PE" sz="900" dirty="0"/>
          </a:p>
        </p:txBody>
      </p:sp>
    </p:spTree>
    <p:extLst>
      <p:ext uri="{BB962C8B-B14F-4D97-AF65-F5344CB8AC3E}">
        <p14:creationId xmlns:p14="http://schemas.microsoft.com/office/powerpoint/2010/main" val="978448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78F4F-0F34-64BE-02F1-ECD08175C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346B64E-6502-F62B-509E-CCE0CA02AF43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2EDF713-4D91-66B8-E2BF-537185DDA615}"/>
              </a:ext>
            </a:extLst>
          </p:cNvPr>
          <p:cNvSpPr txBox="1"/>
          <p:nvPr/>
        </p:nvSpPr>
        <p:spPr>
          <a:xfrm>
            <a:off x="10809190" y="1464695"/>
            <a:ext cx="1243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EJECUTOR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3FBEBF-BA1B-7553-8B29-61C76B918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3814BEA-5CEF-5854-1B8C-7E6D6E49E518}"/>
              </a:ext>
            </a:extLst>
          </p:cNvPr>
          <p:cNvSpPr txBox="1"/>
          <p:nvPr/>
        </p:nvSpPr>
        <p:spPr>
          <a:xfrm>
            <a:off x="4318864" y="1207320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MANTENIMIENTO DE PROYECTOS</a:t>
            </a:r>
            <a:endParaRPr lang="es-PE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687E2CFD-0DFF-3B90-09D0-9FBDF72D0CB8}"/>
              </a:ext>
            </a:extLst>
          </p:cNvPr>
          <p:cNvGraphicFramePr>
            <a:graphicFrameLocks noGrp="1"/>
          </p:cNvGraphicFramePr>
          <p:nvPr/>
        </p:nvGraphicFramePr>
        <p:xfrm>
          <a:off x="107004" y="3153738"/>
          <a:ext cx="11948966" cy="366099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08996">
                  <a:extLst>
                    <a:ext uri="{9D8B030D-6E8A-4147-A177-3AD203B41FA5}">
                      <a16:colId xmlns:a16="http://schemas.microsoft.com/office/drawing/2014/main" val="3053622161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491144692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7292988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6940447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884526593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957674542"/>
                    </a:ext>
                  </a:extLst>
                </a:gridCol>
                <a:gridCol w="606385">
                  <a:extLst>
                    <a:ext uri="{9D8B030D-6E8A-4147-A177-3AD203B41FA5}">
                      <a16:colId xmlns:a16="http://schemas.microsoft.com/office/drawing/2014/main" val="3496397084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3172522512"/>
                    </a:ext>
                  </a:extLst>
                </a:gridCol>
                <a:gridCol w="706056">
                  <a:extLst>
                    <a:ext uri="{9D8B030D-6E8A-4147-A177-3AD203B41FA5}">
                      <a16:colId xmlns:a16="http://schemas.microsoft.com/office/drawing/2014/main" val="3010072222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2384113708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883317745"/>
                    </a:ext>
                  </a:extLst>
                </a:gridCol>
                <a:gridCol w="960699">
                  <a:extLst>
                    <a:ext uri="{9D8B030D-6E8A-4147-A177-3AD203B41FA5}">
                      <a16:colId xmlns:a16="http://schemas.microsoft.com/office/drawing/2014/main" val="3002795293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593911267"/>
                    </a:ext>
                  </a:extLst>
                </a:gridCol>
                <a:gridCol w="894613">
                  <a:extLst>
                    <a:ext uri="{9D8B030D-6E8A-4147-A177-3AD203B41FA5}">
                      <a16:colId xmlns:a16="http://schemas.microsoft.com/office/drawing/2014/main" val="106531747"/>
                    </a:ext>
                  </a:extLst>
                </a:gridCol>
                <a:gridCol w="894613">
                  <a:extLst>
                    <a:ext uri="{9D8B030D-6E8A-4147-A177-3AD203B41FA5}">
                      <a16:colId xmlns:a16="http://schemas.microsoft.com/office/drawing/2014/main" val="2017209504"/>
                    </a:ext>
                  </a:extLst>
                </a:gridCol>
              </a:tblGrid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CODIGO DE AUDITORIA DE PROYECTO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NOMBRE PROYECTO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CLIENTE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 EJE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ORIG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TIPO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DE REGISTRO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ESTADO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EN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               </a:t>
                      </a: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TERMINO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FECHA Y HORA EN “POR EJECUTAR”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FECHA Y PROGRAMADO A EJECUTAR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CANT DIAS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MANTENIMIENTO</a:t>
                      </a:r>
                      <a:endParaRPr lang="es-PE" sz="900" dirty="0"/>
                    </a:p>
                    <a:p>
                      <a:endParaRPr lang="es-P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531107"/>
                  </a:ext>
                </a:extLst>
              </a:tr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ORQUESTADOR DE CLAVES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BANCA SERVICIAL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GRIS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POST-AUTH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INTERNO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2024-12-01 15:20:00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POR EJECUTAR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2024-12-05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2024-12-08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2024-12-09 09:00:00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2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0469"/>
                  </a:ext>
                </a:extLst>
              </a:tr>
              <a:tr h="8618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FIRMA DIGITAL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REDONDA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2024-12-02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VALIDADO DEPENDE CLIENTE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2024-12-06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7019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BENEFICIARIOS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MINERA ESTALAGMITA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 Y 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2024-12-10 16:10:00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CREADO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71487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32462"/>
                  </a:ext>
                </a:extLst>
              </a:tr>
            </a:tbl>
          </a:graphicData>
        </a:graphic>
      </p:graphicFrame>
      <p:sp>
        <p:nvSpPr>
          <p:cNvPr id="24" name="Rectángulo 23">
            <a:extLst>
              <a:ext uri="{FF2B5EF4-FFF2-40B4-BE49-F238E27FC236}">
                <a16:creationId xmlns:a16="http://schemas.microsoft.com/office/drawing/2014/main" id="{D9745068-D0EC-B54E-77DF-506AAE22CBA9}"/>
              </a:ext>
            </a:extLst>
          </p:cNvPr>
          <p:cNvSpPr/>
          <p:nvPr/>
        </p:nvSpPr>
        <p:spPr>
          <a:xfrm>
            <a:off x="9066687" y="2622570"/>
            <a:ext cx="2659110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PROYECTOS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7EB2A99-E173-1FAF-4233-6DE03279CC16}"/>
              </a:ext>
            </a:extLst>
          </p:cNvPr>
          <p:cNvSpPr/>
          <p:nvPr/>
        </p:nvSpPr>
        <p:spPr>
          <a:xfrm>
            <a:off x="-2488557" y="2791010"/>
            <a:ext cx="2488557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AUTOGENERADO   - &gt;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9B744EF-A542-3657-BBDC-7BEFC9F5A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1332" y="197127"/>
            <a:ext cx="990600" cy="1143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1B95323-6372-9011-E4A4-7425133F986F}"/>
              </a:ext>
            </a:extLst>
          </p:cNvPr>
          <p:cNvSpPr/>
          <p:nvPr/>
        </p:nvSpPr>
        <p:spPr>
          <a:xfrm>
            <a:off x="11539731" y="3825175"/>
            <a:ext cx="565073" cy="6467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CARGAR EVIDENCIAS</a:t>
            </a:r>
            <a:endParaRPr lang="es-PE" sz="9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9B8CECA-A033-9D4F-46A1-9E65544CFAA7}"/>
              </a:ext>
            </a:extLst>
          </p:cNvPr>
          <p:cNvSpPr/>
          <p:nvPr/>
        </p:nvSpPr>
        <p:spPr>
          <a:xfrm>
            <a:off x="10896170" y="3825177"/>
            <a:ext cx="565073" cy="6467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INCIDENCIAS</a:t>
            </a:r>
            <a:endParaRPr lang="es-PE" sz="9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3852323-9EB3-FD9B-FCF7-E9A6BE9BB27F}"/>
              </a:ext>
            </a:extLst>
          </p:cNvPr>
          <p:cNvSpPr/>
          <p:nvPr/>
        </p:nvSpPr>
        <p:spPr>
          <a:xfrm>
            <a:off x="11537414" y="4589064"/>
            <a:ext cx="565073" cy="6467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CARGAR EVIDENCIAS</a:t>
            </a:r>
            <a:endParaRPr lang="es-PE" sz="9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B44F1C0-CCED-DB09-52A6-A9A29C66FA9D}"/>
              </a:ext>
            </a:extLst>
          </p:cNvPr>
          <p:cNvSpPr/>
          <p:nvPr/>
        </p:nvSpPr>
        <p:spPr>
          <a:xfrm>
            <a:off x="10893853" y="4589066"/>
            <a:ext cx="565073" cy="6467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INCIDENCIAS</a:t>
            </a:r>
            <a:endParaRPr lang="es-PE" sz="9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B756594-DDE4-FF3B-2933-14618F62BC90}"/>
              </a:ext>
            </a:extLst>
          </p:cNvPr>
          <p:cNvSpPr/>
          <p:nvPr/>
        </p:nvSpPr>
        <p:spPr>
          <a:xfrm>
            <a:off x="11537414" y="5352953"/>
            <a:ext cx="565073" cy="6467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CARGAR EVIDENCIAS</a:t>
            </a:r>
            <a:endParaRPr lang="es-PE" sz="9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B797304-8D56-8A4B-7045-887DBD9407C9}"/>
              </a:ext>
            </a:extLst>
          </p:cNvPr>
          <p:cNvSpPr/>
          <p:nvPr/>
        </p:nvSpPr>
        <p:spPr>
          <a:xfrm>
            <a:off x="10893853" y="5352955"/>
            <a:ext cx="565073" cy="6467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INCIDENCIAS</a:t>
            </a:r>
            <a:endParaRPr lang="es-PE" sz="900" dirty="0"/>
          </a:p>
        </p:txBody>
      </p:sp>
    </p:spTree>
    <p:extLst>
      <p:ext uri="{BB962C8B-B14F-4D97-AF65-F5344CB8AC3E}">
        <p14:creationId xmlns:p14="http://schemas.microsoft.com/office/powerpoint/2010/main" val="2762823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E9D88-CEAA-95FF-56BF-92481CA0B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7ACDE48-BBA3-8A6B-FC3D-3A3DCA807597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F7CA743-96B9-F689-CE3C-DCC003ECB2C9}"/>
              </a:ext>
            </a:extLst>
          </p:cNvPr>
          <p:cNvSpPr>
            <a:spLocks/>
          </p:cNvSpPr>
          <p:nvPr/>
        </p:nvSpPr>
        <p:spPr>
          <a:xfrm>
            <a:off x="5279762" y="48674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EJECUCIÓN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959CFD2-1D45-1D43-F14C-ED9CB5F9CF8B}"/>
              </a:ext>
            </a:extLst>
          </p:cNvPr>
          <p:cNvSpPr txBox="1"/>
          <p:nvPr/>
        </p:nvSpPr>
        <p:spPr>
          <a:xfrm>
            <a:off x="9988814" y="1450325"/>
            <a:ext cx="1243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EJECUTOR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DDACFAE-2168-A5EC-75E1-3EF2E3047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E5B66EA-8F12-B1D5-0F78-815401BA2234}"/>
              </a:ext>
            </a:extLst>
          </p:cNvPr>
          <p:cNvSpPr txBox="1"/>
          <p:nvPr/>
        </p:nvSpPr>
        <p:spPr>
          <a:xfrm>
            <a:off x="4506881" y="245797"/>
            <a:ext cx="248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PROYECTO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2A2B7FB-93DF-C19F-9DDF-C36EB0F848E9}"/>
              </a:ext>
            </a:extLst>
          </p:cNvPr>
          <p:cNvSpPr/>
          <p:nvPr/>
        </p:nvSpPr>
        <p:spPr>
          <a:xfrm>
            <a:off x="5279762" y="118029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AUTENTICACION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4CC66EE-9CD3-925A-9C00-B231D8D59303}"/>
              </a:ext>
            </a:extLst>
          </p:cNvPr>
          <p:cNvSpPr/>
          <p:nvPr/>
        </p:nvSpPr>
        <p:spPr>
          <a:xfrm>
            <a:off x="3823647" y="6073191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SIGUIENTE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2B273B2-8B1C-F131-213D-DB004CAA83E6}"/>
              </a:ext>
            </a:extLst>
          </p:cNvPr>
          <p:cNvSpPr/>
          <p:nvPr/>
        </p:nvSpPr>
        <p:spPr>
          <a:xfrm>
            <a:off x="6584444" y="6081710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E98C3A9-37BF-7E3B-A835-D039F89E58DA}"/>
              </a:ext>
            </a:extLst>
          </p:cNvPr>
          <p:cNvSpPr/>
          <p:nvPr/>
        </p:nvSpPr>
        <p:spPr>
          <a:xfrm>
            <a:off x="5279762" y="189509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ORIGEN DE PRUEBA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61EB9DA-D2B2-2CBE-1314-E13B4FA052BE}"/>
              </a:ext>
            </a:extLst>
          </p:cNvPr>
          <p:cNvSpPr/>
          <p:nvPr/>
        </p:nvSpPr>
        <p:spPr>
          <a:xfrm>
            <a:off x="5279761" y="257069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PRUEBAS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9B0262F7-66BB-45E5-85EA-41F5974962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21048" y="1671543"/>
            <a:ext cx="4542564" cy="50948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87BBA12F-1CB4-C87C-5641-FB8836E2C989}"/>
              </a:ext>
            </a:extLst>
          </p:cNvPr>
          <p:cNvSpPr/>
          <p:nvPr/>
        </p:nvSpPr>
        <p:spPr>
          <a:xfrm>
            <a:off x="573658" y="1709269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ESCENARIO</a:t>
            </a:r>
            <a:endParaRPr lang="es-PE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3E3959A-FD12-A4AC-8F30-3D1B20492201}"/>
              </a:ext>
            </a:extLst>
          </p:cNvPr>
          <p:cNvSpPr>
            <a:spLocks/>
          </p:cNvSpPr>
          <p:nvPr/>
        </p:nvSpPr>
        <p:spPr>
          <a:xfrm>
            <a:off x="542117" y="48237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DEL PROYECTO</a:t>
            </a:r>
            <a:endParaRPr lang="es-PE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0B50D8B-F681-C3BA-6A17-BACE24CC93B8}"/>
              </a:ext>
            </a:extLst>
          </p:cNvPr>
          <p:cNvSpPr>
            <a:spLocks/>
          </p:cNvSpPr>
          <p:nvPr/>
        </p:nvSpPr>
        <p:spPr>
          <a:xfrm>
            <a:off x="4481027" y="4013476"/>
            <a:ext cx="3229946" cy="16583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EVIDENCIAS ZIP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497DB3F-4B39-BAF0-0CB9-C0631CCA85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48430" y="1093957"/>
            <a:ext cx="4542564" cy="50948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F421E69-A346-F39B-5652-ADAE543CDD65}"/>
              </a:ext>
            </a:extLst>
          </p:cNvPr>
          <p:cNvSpPr/>
          <p:nvPr/>
        </p:nvSpPr>
        <p:spPr>
          <a:xfrm>
            <a:off x="573658" y="1129567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  <a:endParaRPr lang="es-PE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D3D1C74-410A-A692-E5B1-04C42825192B}"/>
              </a:ext>
            </a:extLst>
          </p:cNvPr>
          <p:cNvSpPr txBox="1"/>
          <p:nvPr/>
        </p:nvSpPr>
        <p:spPr>
          <a:xfrm>
            <a:off x="3823647" y="3435890"/>
            <a:ext cx="415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PROCESO DE CARGADO DE EVIDENCIA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2D11AB4-4E58-82E8-C6F2-26E57671F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1332" y="197127"/>
            <a:ext cx="9906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23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1FAA5-042F-22CB-0B17-63EA1328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8E72516-A077-C8A4-A9ED-347045A81911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4B71C7B-68E9-2191-F96E-0DEA31FA7630}"/>
              </a:ext>
            </a:extLst>
          </p:cNvPr>
          <p:cNvSpPr txBox="1"/>
          <p:nvPr/>
        </p:nvSpPr>
        <p:spPr>
          <a:xfrm>
            <a:off x="10809190" y="1464695"/>
            <a:ext cx="1243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EJECUTOR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6B8E6B-C158-2447-EB38-9027E2BFE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5725122-F7D9-D73E-2443-817F09A7ABA4}"/>
              </a:ext>
            </a:extLst>
          </p:cNvPr>
          <p:cNvSpPr txBox="1"/>
          <p:nvPr/>
        </p:nvSpPr>
        <p:spPr>
          <a:xfrm>
            <a:off x="4318864" y="1207320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MANTENIMIENTO DE PROYECTOS</a:t>
            </a:r>
            <a:endParaRPr lang="es-PE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58098820-D3D9-DD5D-C364-340637CE0C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185780"/>
              </p:ext>
            </p:extLst>
          </p:nvPr>
        </p:nvGraphicFramePr>
        <p:xfrm>
          <a:off x="107004" y="3153738"/>
          <a:ext cx="11948967" cy="366099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08996">
                  <a:extLst>
                    <a:ext uri="{9D8B030D-6E8A-4147-A177-3AD203B41FA5}">
                      <a16:colId xmlns:a16="http://schemas.microsoft.com/office/drawing/2014/main" val="3053622161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491144692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7292988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6940447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884526593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957674542"/>
                    </a:ext>
                  </a:extLst>
                </a:gridCol>
                <a:gridCol w="606385">
                  <a:extLst>
                    <a:ext uri="{9D8B030D-6E8A-4147-A177-3AD203B41FA5}">
                      <a16:colId xmlns:a16="http://schemas.microsoft.com/office/drawing/2014/main" val="3496397084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3172522512"/>
                    </a:ext>
                  </a:extLst>
                </a:gridCol>
                <a:gridCol w="706056">
                  <a:extLst>
                    <a:ext uri="{9D8B030D-6E8A-4147-A177-3AD203B41FA5}">
                      <a16:colId xmlns:a16="http://schemas.microsoft.com/office/drawing/2014/main" val="3010072222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2384113708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883317745"/>
                    </a:ext>
                  </a:extLst>
                </a:gridCol>
                <a:gridCol w="960699">
                  <a:extLst>
                    <a:ext uri="{9D8B030D-6E8A-4147-A177-3AD203B41FA5}">
                      <a16:colId xmlns:a16="http://schemas.microsoft.com/office/drawing/2014/main" val="3002795293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593911267"/>
                    </a:ext>
                  </a:extLst>
                </a:gridCol>
                <a:gridCol w="358815">
                  <a:extLst>
                    <a:ext uri="{9D8B030D-6E8A-4147-A177-3AD203B41FA5}">
                      <a16:colId xmlns:a16="http://schemas.microsoft.com/office/drawing/2014/main" val="106531747"/>
                    </a:ext>
                  </a:extLst>
                </a:gridCol>
                <a:gridCol w="983105">
                  <a:extLst>
                    <a:ext uri="{9D8B030D-6E8A-4147-A177-3AD203B41FA5}">
                      <a16:colId xmlns:a16="http://schemas.microsoft.com/office/drawing/2014/main" val="2017209504"/>
                    </a:ext>
                  </a:extLst>
                </a:gridCol>
                <a:gridCol w="447307">
                  <a:extLst>
                    <a:ext uri="{9D8B030D-6E8A-4147-A177-3AD203B41FA5}">
                      <a16:colId xmlns:a16="http://schemas.microsoft.com/office/drawing/2014/main" val="2869917272"/>
                    </a:ext>
                  </a:extLst>
                </a:gridCol>
              </a:tblGrid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CODIGO DE AUDITORIA DE PROYECTO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NOMBRE PROYECTO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CLIENTE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 EJE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ORIG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TIPO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DE REGISTRO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ESTADO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EN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               </a:t>
                      </a: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TERMINO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FECHA Y HORA EN “POR EJECUTAR”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FECHA Y PROGRAMADO A EJECUTAR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CANT DIAS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Fecha cargado evidencias</a:t>
                      </a:r>
                      <a:endParaRPr lang="es-PE" sz="900" dirty="0"/>
                    </a:p>
                    <a:p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MANTENIMIENTO</a:t>
                      </a:r>
                      <a:endParaRPr lang="es-PE" sz="900" dirty="0"/>
                    </a:p>
                    <a:p>
                      <a:endParaRPr lang="es-P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531107"/>
                  </a:ext>
                </a:extLst>
              </a:tr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ORQUESTADOR DE CLAVES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BANCA SERVICIAL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GRIS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POST-AUTH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INTERNO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2024-12-01 15:20:00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POR EJECUTAR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2024-12-05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2024-12-08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2024-12-09 09:00:00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2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>
                          <a:highlight>
                            <a:srgbClr val="00FF00"/>
                          </a:highlight>
                        </a:rPr>
                        <a:t>2024-12-10 18:31:00</a:t>
                      </a:r>
                      <a:endParaRPr lang="es-PE" sz="12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0469"/>
                  </a:ext>
                </a:extLst>
              </a:tr>
              <a:tr h="8618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FIRMA DIGITAL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REDONDA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2024-12-02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VALIDADO DEPENDE CLIENTE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2024-12-06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7019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BENEFICIARIOS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MINERA ESTALAGMITA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 Y 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2024-12-10 16:10:00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CREADO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71487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32462"/>
                  </a:ext>
                </a:extLst>
              </a:tr>
            </a:tbl>
          </a:graphicData>
        </a:graphic>
      </p:graphicFrame>
      <p:sp>
        <p:nvSpPr>
          <p:cNvPr id="24" name="Rectángulo 23">
            <a:extLst>
              <a:ext uri="{FF2B5EF4-FFF2-40B4-BE49-F238E27FC236}">
                <a16:creationId xmlns:a16="http://schemas.microsoft.com/office/drawing/2014/main" id="{424AABCE-9FDA-FA05-7D12-4F3EDCB6A85B}"/>
              </a:ext>
            </a:extLst>
          </p:cNvPr>
          <p:cNvSpPr/>
          <p:nvPr/>
        </p:nvSpPr>
        <p:spPr>
          <a:xfrm>
            <a:off x="9066687" y="2622570"/>
            <a:ext cx="2659110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PROYECTOS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1AF25E2-59F6-FEF3-AA35-ACB3BA672E7B}"/>
              </a:ext>
            </a:extLst>
          </p:cNvPr>
          <p:cNvSpPr/>
          <p:nvPr/>
        </p:nvSpPr>
        <p:spPr>
          <a:xfrm>
            <a:off x="-2488557" y="2791010"/>
            <a:ext cx="2488557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AUTOGENERADO   - &gt;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FE1D66-0CFA-C635-A79A-8275D2807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1332" y="197127"/>
            <a:ext cx="990600" cy="114300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FF9372C2-712E-039F-7E72-77AA6E98172E}"/>
              </a:ext>
            </a:extLst>
          </p:cNvPr>
          <p:cNvSpPr/>
          <p:nvPr/>
        </p:nvSpPr>
        <p:spPr>
          <a:xfrm>
            <a:off x="12120420" y="3922332"/>
            <a:ext cx="565073" cy="64678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/>
              <a:t>CARGAR EVIDENCIAS</a:t>
            </a:r>
            <a:endParaRPr lang="es-PE" sz="9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0D70FE7-7C02-FFEE-B66C-CEBAFBFD61F6}"/>
              </a:ext>
            </a:extLst>
          </p:cNvPr>
          <p:cNvSpPr/>
          <p:nvPr/>
        </p:nvSpPr>
        <p:spPr>
          <a:xfrm>
            <a:off x="11476859" y="3922334"/>
            <a:ext cx="565073" cy="6467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INCIDENCIAS</a:t>
            </a:r>
            <a:endParaRPr lang="es-PE" sz="9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BE26EE0-61D8-D680-317D-AEBB55D9FE13}"/>
              </a:ext>
            </a:extLst>
          </p:cNvPr>
          <p:cNvSpPr/>
          <p:nvPr/>
        </p:nvSpPr>
        <p:spPr>
          <a:xfrm>
            <a:off x="12118103" y="4686221"/>
            <a:ext cx="565073" cy="6467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CARGAR EVIDENCIAS</a:t>
            </a:r>
            <a:endParaRPr lang="es-PE" sz="9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8103A65-C567-586D-E7DA-2128DFB71AD9}"/>
              </a:ext>
            </a:extLst>
          </p:cNvPr>
          <p:cNvSpPr/>
          <p:nvPr/>
        </p:nvSpPr>
        <p:spPr>
          <a:xfrm>
            <a:off x="11474542" y="4686223"/>
            <a:ext cx="565073" cy="6467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INCIDENCIAS</a:t>
            </a:r>
            <a:endParaRPr lang="es-PE" sz="9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F3931AC-72C0-46A2-5A85-ED1D0C555FC8}"/>
              </a:ext>
            </a:extLst>
          </p:cNvPr>
          <p:cNvSpPr/>
          <p:nvPr/>
        </p:nvSpPr>
        <p:spPr>
          <a:xfrm>
            <a:off x="12118103" y="5450110"/>
            <a:ext cx="565073" cy="6467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CARGAR EVIDENCIAS</a:t>
            </a:r>
            <a:endParaRPr lang="es-PE" sz="9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93BFACC-869E-7D01-6C59-62331B98B642}"/>
              </a:ext>
            </a:extLst>
          </p:cNvPr>
          <p:cNvSpPr/>
          <p:nvPr/>
        </p:nvSpPr>
        <p:spPr>
          <a:xfrm>
            <a:off x="11474542" y="5450112"/>
            <a:ext cx="565073" cy="6467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INCIDENCIAS</a:t>
            </a:r>
            <a:endParaRPr lang="es-PE" sz="900" dirty="0"/>
          </a:p>
        </p:txBody>
      </p:sp>
    </p:spTree>
    <p:extLst>
      <p:ext uri="{BB962C8B-B14F-4D97-AF65-F5344CB8AC3E}">
        <p14:creationId xmlns:p14="http://schemas.microsoft.com/office/powerpoint/2010/main" val="3393977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A3034-2AB2-09BC-A166-0109E7E3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8865471-C7B9-9049-E41B-1EFE2C2CF146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BCFF7A0-66C0-C3F6-4FD1-95EAF0E5E9ED}"/>
              </a:ext>
            </a:extLst>
          </p:cNvPr>
          <p:cNvSpPr>
            <a:spLocks/>
          </p:cNvSpPr>
          <p:nvPr/>
        </p:nvSpPr>
        <p:spPr>
          <a:xfrm>
            <a:off x="5279762" y="48674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EJECUCIÓN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3E48099-FE8F-36B9-4300-8CDAD598C79D}"/>
              </a:ext>
            </a:extLst>
          </p:cNvPr>
          <p:cNvSpPr txBox="1"/>
          <p:nvPr/>
        </p:nvSpPr>
        <p:spPr>
          <a:xfrm>
            <a:off x="9988814" y="1450325"/>
            <a:ext cx="2178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PROJECT MANAGER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2BB5B5-4FCC-5017-A1CE-B6D946FC7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8E2C088F-DBCA-DB4E-C5E1-4365BD49A817}"/>
              </a:ext>
            </a:extLst>
          </p:cNvPr>
          <p:cNvSpPr txBox="1"/>
          <p:nvPr/>
        </p:nvSpPr>
        <p:spPr>
          <a:xfrm>
            <a:off x="4506881" y="245797"/>
            <a:ext cx="248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PROYECTO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10358EA-BF37-ADA9-C2CA-8E9AA8EDE033}"/>
              </a:ext>
            </a:extLst>
          </p:cNvPr>
          <p:cNvSpPr/>
          <p:nvPr/>
        </p:nvSpPr>
        <p:spPr>
          <a:xfrm>
            <a:off x="5279762" y="118029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AUTENTICACION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EC2E4A4-347E-2F20-EDD3-0DCD20853F10}"/>
              </a:ext>
            </a:extLst>
          </p:cNvPr>
          <p:cNvSpPr/>
          <p:nvPr/>
        </p:nvSpPr>
        <p:spPr>
          <a:xfrm>
            <a:off x="5279762" y="189509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ORIGEN DE PRUEBA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B9A584E-72DF-82CD-8006-095E418F8946}"/>
              </a:ext>
            </a:extLst>
          </p:cNvPr>
          <p:cNvSpPr/>
          <p:nvPr/>
        </p:nvSpPr>
        <p:spPr>
          <a:xfrm>
            <a:off x="5279761" y="257069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PRUEBAS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3B678E1A-773F-BF91-E087-D8D136E3A3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21048" y="1671543"/>
            <a:ext cx="4542564" cy="50948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AB0F560E-A303-CC1D-C697-0C7C957AD69F}"/>
              </a:ext>
            </a:extLst>
          </p:cNvPr>
          <p:cNvSpPr/>
          <p:nvPr/>
        </p:nvSpPr>
        <p:spPr>
          <a:xfrm>
            <a:off x="573658" y="1709269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ESCENARIO</a:t>
            </a:r>
            <a:endParaRPr lang="es-PE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E040D61-B6CA-8197-9BF7-715AC03CB02A}"/>
              </a:ext>
            </a:extLst>
          </p:cNvPr>
          <p:cNvSpPr>
            <a:spLocks/>
          </p:cNvSpPr>
          <p:nvPr/>
        </p:nvSpPr>
        <p:spPr>
          <a:xfrm>
            <a:off x="542117" y="48237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DEL PROYECTO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DA6C5DD-4E69-3BE1-A670-927854ED2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48430" y="1093957"/>
            <a:ext cx="4542564" cy="50948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8DE3D97-B864-B8EA-8249-A17798CA1824}"/>
              </a:ext>
            </a:extLst>
          </p:cNvPr>
          <p:cNvSpPr/>
          <p:nvPr/>
        </p:nvSpPr>
        <p:spPr>
          <a:xfrm>
            <a:off x="573658" y="1129567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  <a:endParaRPr lang="es-PE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302CF5E-FAEA-2B62-0A0A-31AAFBA51EF0}"/>
              </a:ext>
            </a:extLst>
          </p:cNvPr>
          <p:cNvSpPr/>
          <p:nvPr/>
        </p:nvSpPr>
        <p:spPr>
          <a:xfrm>
            <a:off x="3371355" y="6263521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SEGUIENTE</a:t>
            </a:r>
            <a:endParaRPr lang="es-PE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4EE2D36-49F1-F079-2D1E-5722D8C82D28}"/>
              </a:ext>
            </a:extLst>
          </p:cNvPr>
          <p:cNvSpPr/>
          <p:nvPr/>
        </p:nvSpPr>
        <p:spPr>
          <a:xfrm>
            <a:off x="5878384" y="6272710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0DD3306-E297-6AB2-322A-276548C4367F}"/>
              </a:ext>
            </a:extLst>
          </p:cNvPr>
          <p:cNvSpPr>
            <a:spLocks/>
          </p:cNvSpPr>
          <p:nvPr/>
        </p:nvSpPr>
        <p:spPr>
          <a:xfrm>
            <a:off x="3184848" y="3347911"/>
            <a:ext cx="5054526" cy="49124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ASIGNAR DOCUMENTADOR</a:t>
            </a:r>
            <a:endParaRPr lang="es-PE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531FBDA0-985C-89F4-2449-EAA2B00CB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388" y="3985880"/>
            <a:ext cx="5105927" cy="2121188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1E1A868E-788D-E211-3083-0DC0437746C4}"/>
              </a:ext>
            </a:extLst>
          </p:cNvPr>
          <p:cNvSpPr/>
          <p:nvPr/>
        </p:nvSpPr>
        <p:spPr>
          <a:xfrm>
            <a:off x="3216388" y="4020042"/>
            <a:ext cx="4469202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ESCOGER CONSULTOR QUIEN DOCUMENTARA</a:t>
            </a:r>
            <a:endParaRPr lang="es-PE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5D866B3F-0AE8-02D6-9648-034B5F5431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772" b="28806"/>
          <a:stretch/>
        </p:blipFill>
        <p:spPr>
          <a:xfrm>
            <a:off x="3184848" y="4464832"/>
            <a:ext cx="5176832" cy="1382952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81864410-1A0F-94AF-802D-8C167335F190}"/>
              </a:ext>
            </a:extLst>
          </p:cNvPr>
          <p:cNvSpPr>
            <a:spLocks/>
          </p:cNvSpPr>
          <p:nvPr/>
        </p:nvSpPr>
        <p:spPr>
          <a:xfrm>
            <a:off x="3360807" y="4657484"/>
            <a:ext cx="4681958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DIANA ROMAN</a:t>
            </a:r>
            <a:endParaRPr lang="es-PE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EEA1FA22-C124-19DF-5132-1830C2B04B45}"/>
              </a:ext>
            </a:extLst>
          </p:cNvPr>
          <p:cNvSpPr>
            <a:spLocks/>
          </p:cNvSpPr>
          <p:nvPr/>
        </p:nvSpPr>
        <p:spPr>
          <a:xfrm>
            <a:off x="3360807" y="5341384"/>
            <a:ext cx="4681958" cy="49124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CELIA PEREZ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37098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91CE1-4DC7-4472-5591-8D0E2C389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A72F6ED-926C-6DEC-0954-638EAB1B00E3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5F669E8-C30A-B6E6-9DFD-2FCD28BD9AD5}"/>
              </a:ext>
            </a:extLst>
          </p:cNvPr>
          <p:cNvSpPr>
            <a:spLocks/>
          </p:cNvSpPr>
          <p:nvPr/>
        </p:nvSpPr>
        <p:spPr>
          <a:xfrm>
            <a:off x="5279762" y="48674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EJECUCIÓN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6F8D762-D023-6EEF-0BFC-09B46E6A032F}"/>
              </a:ext>
            </a:extLst>
          </p:cNvPr>
          <p:cNvSpPr txBox="1"/>
          <p:nvPr/>
        </p:nvSpPr>
        <p:spPr>
          <a:xfrm>
            <a:off x="9988814" y="1450325"/>
            <a:ext cx="200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DOCUMENTADOR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58A957-BD7C-A900-5903-44884886E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663CA0A-9B24-627A-1FA0-6E3787B4BF74}"/>
              </a:ext>
            </a:extLst>
          </p:cNvPr>
          <p:cNvSpPr txBox="1"/>
          <p:nvPr/>
        </p:nvSpPr>
        <p:spPr>
          <a:xfrm>
            <a:off x="4506881" y="245797"/>
            <a:ext cx="248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PROYECTO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9C0FFE6-F77A-9A30-A43F-C45B24FB9C4A}"/>
              </a:ext>
            </a:extLst>
          </p:cNvPr>
          <p:cNvSpPr/>
          <p:nvPr/>
        </p:nvSpPr>
        <p:spPr>
          <a:xfrm>
            <a:off x="5279762" y="118029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AUTENTICACION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0DABD81-B1CA-A3BE-CE26-C83105397CE9}"/>
              </a:ext>
            </a:extLst>
          </p:cNvPr>
          <p:cNvSpPr/>
          <p:nvPr/>
        </p:nvSpPr>
        <p:spPr>
          <a:xfrm>
            <a:off x="3823647" y="6073191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SIGUIENTE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E3B799B-069B-E4BE-2EA5-944E0F1F863D}"/>
              </a:ext>
            </a:extLst>
          </p:cNvPr>
          <p:cNvSpPr/>
          <p:nvPr/>
        </p:nvSpPr>
        <p:spPr>
          <a:xfrm>
            <a:off x="6584444" y="6081710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E9E8E55-84C2-5BF9-7A26-DDDCB72613D9}"/>
              </a:ext>
            </a:extLst>
          </p:cNvPr>
          <p:cNvSpPr/>
          <p:nvPr/>
        </p:nvSpPr>
        <p:spPr>
          <a:xfrm>
            <a:off x="5279762" y="189509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ORIGEN DE PRUEBA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B1F5CC6-C8D1-6FF8-B631-D900FDE886FC}"/>
              </a:ext>
            </a:extLst>
          </p:cNvPr>
          <p:cNvSpPr/>
          <p:nvPr/>
        </p:nvSpPr>
        <p:spPr>
          <a:xfrm>
            <a:off x="5279761" y="257069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PRUEBAS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A328DC25-E3C0-A2A6-ADF0-F5AF5E01C4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21048" y="1671543"/>
            <a:ext cx="4542564" cy="50948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CEC96203-B008-C2AA-EE64-5242934DBEB1}"/>
              </a:ext>
            </a:extLst>
          </p:cNvPr>
          <p:cNvSpPr/>
          <p:nvPr/>
        </p:nvSpPr>
        <p:spPr>
          <a:xfrm>
            <a:off x="573658" y="1709269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ESCENARIO</a:t>
            </a:r>
            <a:endParaRPr lang="es-PE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533124D-D3E9-7877-F1DA-AEC6F761CDA6}"/>
              </a:ext>
            </a:extLst>
          </p:cNvPr>
          <p:cNvSpPr>
            <a:spLocks/>
          </p:cNvSpPr>
          <p:nvPr/>
        </p:nvSpPr>
        <p:spPr>
          <a:xfrm>
            <a:off x="542117" y="48237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DEL PROYECTO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62DE66-3AC7-CAA2-7BE1-FD8D6050D4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48430" y="1093957"/>
            <a:ext cx="4542564" cy="50948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F2E744D4-2CD2-83DF-69CF-04EF1432A697}"/>
              </a:ext>
            </a:extLst>
          </p:cNvPr>
          <p:cNvSpPr/>
          <p:nvPr/>
        </p:nvSpPr>
        <p:spPr>
          <a:xfrm>
            <a:off x="573658" y="1129567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  <a:endParaRPr lang="es-PE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D94BEF4-4A58-CB07-29DE-CFE787908190}"/>
              </a:ext>
            </a:extLst>
          </p:cNvPr>
          <p:cNvSpPr txBox="1"/>
          <p:nvPr/>
        </p:nvSpPr>
        <p:spPr>
          <a:xfrm>
            <a:off x="3823647" y="3435890"/>
            <a:ext cx="5440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PROCESO DE CARGADO DE EVIDENCIA POR ACTIVO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EB5FCC8-C059-50D1-5365-85DFF13AB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1332" y="197127"/>
            <a:ext cx="990600" cy="1143000"/>
          </a:xfrm>
          <a:prstGeom prst="rect">
            <a:avLst/>
          </a:prstGeom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C8456BF9-24FE-E45B-17A3-2C0ED14CE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8268" y="210849"/>
            <a:ext cx="1009650" cy="1133475"/>
          </a:xfrm>
          <a:prstGeom prst="rect">
            <a:avLst/>
          </a:prstGeom>
        </p:spPr>
      </p:pic>
      <p:sp>
        <p:nvSpPr>
          <p:cNvPr id="57" name="Rectángulo 56">
            <a:extLst>
              <a:ext uri="{FF2B5EF4-FFF2-40B4-BE49-F238E27FC236}">
                <a16:creationId xmlns:a16="http://schemas.microsoft.com/office/drawing/2014/main" id="{9FAE5873-0A68-5BCF-1836-379512EA40FE}"/>
              </a:ext>
            </a:extLst>
          </p:cNvPr>
          <p:cNvSpPr>
            <a:spLocks/>
          </p:cNvSpPr>
          <p:nvPr/>
        </p:nvSpPr>
        <p:spPr>
          <a:xfrm>
            <a:off x="4481027" y="4013476"/>
            <a:ext cx="3229946" cy="16583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DESCARGAR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518742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A466D-2EE7-17CE-9E7C-DF6357A6E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C9EFC95-A2C9-3B78-A29E-1A197963B086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9244130-238B-EFFD-9D11-7DF5599ABEEF}"/>
              </a:ext>
            </a:extLst>
          </p:cNvPr>
          <p:cNvSpPr>
            <a:spLocks/>
          </p:cNvSpPr>
          <p:nvPr/>
        </p:nvSpPr>
        <p:spPr>
          <a:xfrm>
            <a:off x="5279762" y="48674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EJECUCIÓN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EB46E00-DEF3-0210-1113-AC2A675A108D}"/>
              </a:ext>
            </a:extLst>
          </p:cNvPr>
          <p:cNvSpPr txBox="1"/>
          <p:nvPr/>
        </p:nvSpPr>
        <p:spPr>
          <a:xfrm>
            <a:off x="9988814" y="1450325"/>
            <a:ext cx="200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DOCUMENTADOR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FF5490-0C91-4588-391C-CC12D66AF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12AACDC-3E5F-4E2C-F6B5-F3B4E3BACB6C}"/>
              </a:ext>
            </a:extLst>
          </p:cNvPr>
          <p:cNvSpPr txBox="1"/>
          <p:nvPr/>
        </p:nvSpPr>
        <p:spPr>
          <a:xfrm>
            <a:off x="4506881" y="245797"/>
            <a:ext cx="248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PROYECTO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B5717C3-FF14-CBC2-1926-EB79E2209228}"/>
              </a:ext>
            </a:extLst>
          </p:cNvPr>
          <p:cNvSpPr/>
          <p:nvPr/>
        </p:nvSpPr>
        <p:spPr>
          <a:xfrm>
            <a:off x="5279762" y="118029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AUTENTICACION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426251E-FE43-00DB-BB32-43494AF4C0AD}"/>
              </a:ext>
            </a:extLst>
          </p:cNvPr>
          <p:cNvSpPr/>
          <p:nvPr/>
        </p:nvSpPr>
        <p:spPr>
          <a:xfrm>
            <a:off x="3823647" y="6073191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SIGUIENTE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55ABE3C-5158-97E2-EC24-B0E16466C05D}"/>
              </a:ext>
            </a:extLst>
          </p:cNvPr>
          <p:cNvSpPr/>
          <p:nvPr/>
        </p:nvSpPr>
        <p:spPr>
          <a:xfrm>
            <a:off x="6584444" y="6081710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EA33040-7BDC-D87C-E49C-6686FFB79CF1}"/>
              </a:ext>
            </a:extLst>
          </p:cNvPr>
          <p:cNvSpPr/>
          <p:nvPr/>
        </p:nvSpPr>
        <p:spPr>
          <a:xfrm>
            <a:off x="5279762" y="189509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ORIGEN DE PRUEBA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254BC18-29CA-03B4-DA35-037B5DC46D62}"/>
              </a:ext>
            </a:extLst>
          </p:cNvPr>
          <p:cNvSpPr/>
          <p:nvPr/>
        </p:nvSpPr>
        <p:spPr>
          <a:xfrm>
            <a:off x="5279761" y="257069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PRUEBAS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5B70110F-F5BA-A784-F4F3-4B2B367A69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21048" y="1671543"/>
            <a:ext cx="4542564" cy="50948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FEC2A120-876F-722B-2305-6AE5756D63EC}"/>
              </a:ext>
            </a:extLst>
          </p:cNvPr>
          <p:cNvSpPr/>
          <p:nvPr/>
        </p:nvSpPr>
        <p:spPr>
          <a:xfrm>
            <a:off x="573658" y="1709269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ESCENARIO</a:t>
            </a:r>
            <a:endParaRPr lang="es-PE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F2F6D043-B04D-BF10-C5E0-961E70BB7E2F}"/>
              </a:ext>
            </a:extLst>
          </p:cNvPr>
          <p:cNvSpPr>
            <a:spLocks/>
          </p:cNvSpPr>
          <p:nvPr/>
        </p:nvSpPr>
        <p:spPr>
          <a:xfrm>
            <a:off x="542117" y="48237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DEL PROYECTO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42006E2-D6F2-CFBF-3971-8D7290133B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48430" y="1093957"/>
            <a:ext cx="4542564" cy="50948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18B8915-734B-1F65-7D99-135043DE18DE}"/>
              </a:ext>
            </a:extLst>
          </p:cNvPr>
          <p:cNvSpPr/>
          <p:nvPr/>
        </p:nvSpPr>
        <p:spPr>
          <a:xfrm>
            <a:off x="573658" y="1129567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  <a:endParaRPr lang="es-PE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BB6C1F5-2A20-3E75-28CA-77125FC21095}"/>
              </a:ext>
            </a:extLst>
          </p:cNvPr>
          <p:cNvSpPr txBox="1"/>
          <p:nvPr/>
        </p:nvSpPr>
        <p:spPr>
          <a:xfrm>
            <a:off x="3823647" y="3435890"/>
            <a:ext cx="5440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PROCESO DE CARGADO DE EVIDENCIA POR ACTIVO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C0659B2-79D7-7E10-E4FF-E9F06B191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1332" y="197127"/>
            <a:ext cx="990600" cy="1143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FF13FFA-8361-286A-FCAE-26F69A2788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460782" y="3754972"/>
            <a:ext cx="3229946" cy="509484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B3E45444-5689-368F-F176-E8189449AE7A}"/>
              </a:ext>
            </a:extLst>
          </p:cNvPr>
          <p:cNvSpPr/>
          <p:nvPr/>
        </p:nvSpPr>
        <p:spPr>
          <a:xfrm>
            <a:off x="413392" y="3792698"/>
            <a:ext cx="2630750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ACTIVO</a:t>
            </a:r>
            <a:endParaRPr lang="es-PE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F3043BD-BF01-B3BD-B35A-181F08A816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4041137" y="3744445"/>
            <a:ext cx="3229946" cy="509484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F21886AE-2A91-1592-443F-0600702FF9A4}"/>
              </a:ext>
            </a:extLst>
          </p:cNvPr>
          <p:cNvSpPr/>
          <p:nvPr/>
        </p:nvSpPr>
        <p:spPr>
          <a:xfrm>
            <a:off x="3993747" y="3782171"/>
            <a:ext cx="2630750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VULNERABILIDAD</a:t>
            </a:r>
            <a:endParaRPr lang="es-PE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2096FD4-21CC-EC3A-62A6-51D21DFE41D6}"/>
              </a:ext>
            </a:extLst>
          </p:cNvPr>
          <p:cNvSpPr/>
          <p:nvPr/>
        </p:nvSpPr>
        <p:spPr>
          <a:xfrm>
            <a:off x="7411432" y="3764090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IMAGENES</a:t>
            </a:r>
            <a:endParaRPr lang="es-PE" dirty="0"/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2F616534-AF5D-9BC6-13D9-CE34C6EE9C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4054637" y="4267236"/>
            <a:ext cx="3229946" cy="509484"/>
          </a:xfrm>
          <a:prstGeom prst="rect">
            <a:avLst/>
          </a:prstGeom>
        </p:spPr>
      </p:pic>
      <p:sp>
        <p:nvSpPr>
          <p:cNvPr id="43" name="Rectángulo 42">
            <a:extLst>
              <a:ext uri="{FF2B5EF4-FFF2-40B4-BE49-F238E27FC236}">
                <a16:creationId xmlns:a16="http://schemas.microsoft.com/office/drawing/2014/main" id="{D713B10C-C3F6-C71D-7697-FD8A7AD2B60F}"/>
              </a:ext>
            </a:extLst>
          </p:cNvPr>
          <p:cNvSpPr/>
          <p:nvPr/>
        </p:nvSpPr>
        <p:spPr>
          <a:xfrm>
            <a:off x="4007247" y="4304962"/>
            <a:ext cx="2630750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VULNERABILIDAD</a:t>
            </a:r>
            <a:endParaRPr lang="es-PE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83950F3-B525-CE7B-E70B-3232F67FDABA}"/>
              </a:ext>
            </a:extLst>
          </p:cNvPr>
          <p:cNvSpPr/>
          <p:nvPr/>
        </p:nvSpPr>
        <p:spPr>
          <a:xfrm>
            <a:off x="7424932" y="4286881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IMAGENES</a:t>
            </a:r>
            <a:endParaRPr lang="es-PE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C2AD8935-5A1B-ADAB-9084-6A00A05BB6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4068137" y="4801603"/>
            <a:ext cx="3229946" cy="509484"/>
          </a:xfrm>
          <a:prstGeom prst="rect">
            <a:avLst/>
          </a:prstGeom>
        </p:spPr>
      </p:pic>
      <p:sp>
        <p:nvSpPr>
          <p:cNvPr id="48" name="Rectángulo 47">
            <a:extLst>
              <a:ext uri="{FF2B5EF4-FFF2-40B4-BE49-F238E27FC236}">
                <a16:creationId xmlns:a16="http://schemas.microsoft.com/office/drawing/2014/main" id="{B4556AA0-3233-58FC-5903-E64FCAD099E6}"/>
              </a:ext>
            </a:extLst>
          </p:cNvPr>
          <p:cNvSpPr/>
          <p:nvPr/>
        </p:nvSpPr>
        <p:spPr>
          <a:xfrm>
            <a:off x="4020747" y="4839329"/>
            <a:ext cx="2630750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VULNERABILIDAD</a:t>
            </a:r>
            <a:endParaRPr lang="es-PE" dirty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332675EF-06D4-DF53-52C0-00F6F6AE10C9}"/>
              </a:ext>
            </a:extLst>
          </p:cNvPr>
          <p:cNvSpPr/>
          <p:nvPr/>
        </p:nvSpPr>
        <p:spPr>
          <a:xfrm>
            <a:off x="7438432" y="4821248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IMAGENES</a:t>
            </a:r>
            <a:endParaRPr lang="es-PE" dirty="0"/>
          </a:p>
        </p:txBody>
      </p:sp>
      <p:pic>
        <p:nvPicPr>
          <p:cNvPr id="50" name="Imagen 49">
            <a:extLst>
              <a:ext uri="{FF2B5EF4-FFF2-40B4-BE49-F238E27FC236}">
                <a16:creationId xmlns:a16="http://schemas.microsoft.com/office/drawing/2014/main" id="{E8EE4F5C-3BA3-0556-A11D-62D8EC009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454987" y="5358068"/>
            <a:ext cx="3229946" cy="509484"/>
          </a:xfrm>
          <a:prstGeom prst="rect">
            <a:avLst/>
          </a:prstGeom>
        </p:spPr>
      </p:pic>
      <p:sp>
        <p:nvSpPr>
          <p:cNvPr id="51" name="Rectángulo 50">
            <a:extLst>
              <a:ext uri="{FF2B5EF4-FFF2-40B4-BE49-F238E27FC236}">
                <a16:creationId xmlns:a16="http://schemas.microsoft.com/office/drawing/2014/main" id="{4092280B-5AAC-54F1-0FF1-B64B0F5738D4}"/>
              </a:ext>
            </a:extLst>
          </p:cNvPr>
          <p:cNvSpPr/>
          <p:nvPr/>
        </p:nvSpPr>
        <p:spPr>
          <a:xfrm>
            <a:off x="407597" y="5395794"/>
            <a:ext cx="2630750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ACTIVO</a:t>
            </a:r>
            <a:endParaRPr lang="es-PE" dirty="0"/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2EE53F54-7640-C86C-828A-77F895440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4035342" y="5347541"/>
            <a:ext cx="3229946" cy="509484"/>
          </a:xfrm>
          <a:prstGeom prst="rect">
            <a:avLst/>
          </a:prstGeom>
        </p:spPr>
      </p:pic>
      <p:sp>
        <p:nvSpPr>
          <p:cNvPr id="53" name="Rectángulo 52">
            <a:extLst>
              <a:ext uri="{FF2B5EF4-FFF2-40B4-BE49-F238E27FC236}">
                <a16:creationId xmlns:a16="http://schemas.microsoft.com/office/drawing/2014/main" id="{7EE3739D-2B36-5549-252E-7152DE03970F}"/>
              </a:ext>
            </a:extLst>
          </p:cNvPr>
          <p:cNvSpPr/>
          <p:nvPr/>
        </p:nvSpPr>
        <p:spPr>
          <a:xfrm>
            <a:off x="3987952" y="5385267"/>
            <a:ext cx="2630750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VULNERABILIDAD</a:t>
            </a:r>
            <a:endParaRPr lang="es-PE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4DBFD665-01DB-C8C3-455B-1CFF8AB35502}"/>
              </a:ext>
            </a:extLst>
          </p:cNvPr>
          <p:cNvSpPr/>
          <p:nvPr/>
        </p:nvSpPr>
        <p:spPr>
          <a:xfrm>
            <a:off x="7405637" y="536718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IMAGENES</a:t>
            </a:r>
            <a:endParaRPr lang="es-PE" dirty="0"/>
          </a:p>
        </p:txBody>
      </p:sp>
      <p:pic>
        <p:nvPicPr>
          <p:cNvPr id="56" name="Imagen 55">
            <a:extLst>
              <a:ext uri="{FF2B5EF4-FFF2-40B4-BE49-F238E27FC236}">
                <a16:creationId xmlns:a16="http://schemas.microsoft.com/office/drawing/2014/main" id="{884881A3-E32E-6F14-EA65-BA9ADD002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8268" y="210849"/>
            <a:ext cx="100965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20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3CA1-74AA-ED08-1540-3973E569E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1BE5ED2-75CA-A29C-AA92-BCD9DD805A3E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15521CC-F073-9B6A-C4EE-A1237120407E}"/>
              </a:ext>
            </a:extLst>
          </p:cNvPr>
          <p:cNvSpPr>
            <a:spLocks/>
          </p:cNvSpPr>
          <p:nvPr/>
        </p:nvSpPr>
        <p:spPr>
          <a:xfrm>
            <a:off x="5279762" y="48674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EJECUCIÓN</a:t>
            </a:r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84E966C-E73C-F78E-BADC-D24CC818050C}"/>
              </a:ext>
            </a:extLst>
          </p:cNvPr>
          <p:cNvSpPr txBox="1"/>
          <p:nvPr/>
        </p:nvSpPr>
        <p:spPr>
          <a:xfrm>
            <a:off x="9988814" y="1450325"/>
            <a:ext cx="200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DOCUMENTADOR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672427-87CF-A678-D9E1-B181B7D36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576D44E-AA5C-7D30-9452-9096CD4655BA}"/>
              </a:ext>
            </a:extLst>
          </p:cNvPr>
          <p:cNvSpPr txBox="1"/>
          <p:nvPr/>
        </p:nvSpPr>
        <p:spPr>
          <a:xfrm>
            <a:off x="4506881" y="245797"/>
            <a:ext cx="2482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REGISTRAR PROYECTO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DB2283D-B083-78A7-5A4E-3EA6C752B9AB}"/>
              </a:ext>
            </a:extLst>
          </p:cNvPr>
          <p:cNvSpPr/>
          <p:nvPr/>
        </p:nvSpPr>
        <p:spPr>
          <a:xfrm>
            <a:off x="5279762" y="1180296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AUTENTICACION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3DC73A5-AB03-9D54-D26A-133F0F831834}"/>
              </a:ext>
            </a:extLst>
          </p:cNvPr>
          <p:cNvSpPr/>
          <p:nvPr/>
        </p:nvSpPr>
        <p:spPr>
          <a:xfrm>
            <a:off x="3823647" y="6073191"/>
            <a:ext cx="1977431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SIGUIENTE</a:t>
            </a:r>
            <a:endParaRPr lang="es-P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5099535-A82C-7AB8-3CDA-70C8E4951DDA}"/>
              </a:ext>
            </a:extLst>
          </p:cNvPr>
          <p:cNvSpPr/>
          <p:nvPr/>
        </p:nvSpPr>
        <p:spPr>
          <a:xfrm>
            <a:off x="6584444" y="6081710"/>
            <a:ext cx="1977431" cy="4140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CANCELAR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10B74A4-AF45-CEFE-63C9-8FE56252F47C}"/>
              </a:ext>
            </a:extLst>
          </p:cNvPr>
          <p:cNvSpPr/>
          <p:nvPr/>
        </p:nvSpPr>
        <p:spPr>
          <a:xfrm>
            <a:off x="5279762" y="189509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ORIGEN DE PRUEBA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E95B39E-2098-7E83-4FB1-E7A6F1F86AAD}"/>
              </a:ext>
            </a:extLst>
          </p:cNvPr>
          <p:cNvSpPr/>
          <p:nvPr/>
        </p:nvSpPr>
        <p:spPr>
          <a:xfrm>
            <a:off x="5279761" y="2570694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TIPO DE PRUEBAS</a:t>
            </a:r>
            <a:endParaRPr lang="es-PE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646B6BEF-41CA-2FF4-F69D-B5E6A88A6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21048" y="1671543"/>
            <a:ext cx="4542564" cy="509484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3CF22257-9C9D-77EB-8A9E-BD2D20C5C10E}"/>
              </a:ext>
            </a:extLst>
          </p:cNvPr>
          <p:cNvSpPr/>
          <p:nvPr/>
        </p:nvSpPr>
        <p:spPr>
          <a:xfrm>
            <a:off x="573658" y="1709269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ESCENARIO</a:t>
            </a:r>
            <a:endParaRPr lang="es-PE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35157D7-22A9-7903-DCA5-CC95CFD0F187}"/>
              </a:ext>
            </a:extLst>
          </p:cNvPr>
          <p:cNvSpPr>
            <a:spLocks/>
          </p:cNvSpPr>
          <p:nvPr/>
        </p:nvSpPr>
        <p:spPr>
          <a:xfrm>
            <a:off x="542117" y="48237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NOMBRE DEL PROYECTO</a:t>
            </a:r>
            <a:endParaRPr lang="es-PE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BE9BDE1-0C9B-4689-2F62-866E2403D9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648430" y="1093957"/>
            <a:ext cx="4542564" cy="509484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46402F8-BA63-AB82-5BC2-7D2815133BEB}"/>
              </a:ext>
            </a:extLst>
          </p:cNvPr>
          <p:cNvSpPr/>
          <p:nvPr/>
        </p:nvSpPr>
        <p:spPr>
          <a:xfrm>
            <a:off x="573658" y="1129567"/>
            <a:ext cx="361800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CLIENTE</a:t>
            </a:r>
            <a:endParaRPr lang="es-PE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7CAAA74-C7D6-C6D7-40DB-439666AA956E}"/>
              </a:ext>
            </a:extLst>
          </p:cNvPr>
          <p:cNvSpPr txBox="1"/>
          <p:nvPr/>
        </p:nvSpPr>
        <p:spPr>
          <a:xfrm>
            <a:off x="3823647" y="3435890"/>
            <a:ext cx="6481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PROCESO DE CARGADO DE EVIDENCIA POR VULNERABILIDAD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2E7B843-45C2-8FF9-442A-124042667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1332" y="197127"/>
            <a:ext cx="990600" cy="1143000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CC71341A-74CB-EEE0-33FA-4DE1589157FE}"/>
              </a:ext>
            </a:extLst>
          </p:cNvPr>
          <p:cNvSpPr/>
          <p:nvPr/>
        </p:nvSpPr>
        <p:spPr>
          <a:xfrm>
            <a:off x="3912919" y="3761856"/>
            <a:ext cx="340619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ACTIVOS</a:t>
            </a:r>
            <a:endParaRPr lang="es-PE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E1D06E1D-57ED-96E9-EA5B-B1B6B5E998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372524" y="3724912"/>
            <a:ext cx="3229946" cy="509484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6140AE4D-E5D2-2A4F-35FC-0A6604EE0D3C}"/>
              </a:ext>
            </a:extLst>
          </p:cNvPr>
          <p:cNvSpPr/>
          <p:nvPr/>
        </p:nvSpPr>
        <p:spPr>
          <a:xfrm>
            <a:off x="325134" y="3762638"/>
            <a:ext cx="2630750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VULNERABILIDAD</a:t>
            </a:r>
            <a:endParaRPr lang="es-PE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C6AF4F1-CDFE-E7CB-847A-ADBCD0C4E8E9}"/>
              </a:ext>
            </a:extLst>
          </p:cNvPr>
          <p:cNvSpPr/>
          <p:nvPr/>
        </p:nvSpPr>
        <p:spPr>
          <a:xfrm>
            <a:off x="7561594" y="3742367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IMAGENES</a:t>
            </a:r>
            <a:endParaRPr lang="es-PE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3D5816E-9D92-7085-8E87-2A60A1CAAAD3}"/>
              </a:ext>
            </a:extLst>
          </p:cNvPr>
          <p:cNvSpPr/>
          <p:nvPr/>
        </p:nvSpPr>
        <p:spPr>
          <a:xfrm>
            <a:off x="3926419" y="4284647"/>
            <a:ext cx="339269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ACTIVO</a:t>
            </a:r>
            <a:endParaRPr lang="es-PE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3441B90-F99B-C11A-A466-A2828E9A33D0}"/>
              </a:ext>
            </a:extLst>
          </p:cNvPr>
          <p:cNvSpPr/>
          <p:nvPr/>
        </p:nvSpPr>
        <p:spPr>
          <a:xfrm>
            <a:off x="7575094" y="4265158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IMAGENES</a:t>
            </a:r>
            <a:endParaRPr lang="es-PE" dirty="0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A37DD3BE-2B2B-4FBA-703D-742BC2796128}"/>
              </a:ext>
            </a:extLst>
          </p:cNvPr>
          <p:cNvSpPr/>
          <p:nvPr/>
        </p:nvSpPr>
        <p:spPr>
          <a:xfrm>
            <a:off x="3939919" y="4819014"/>
            <a:ext cx="3392694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ACTIVO</a:t>
            </a:r>
            <a:endParaRPr lang="es-PE" dirty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F27F6FA1-556C-F752-FF13-0D48F0633940}"/>
              </a:ext>
            </a:extLst>
          </p:cNvPr>
          <p:cNvSpPr/>
          <p:nvPr/>
        </p:nvSpPr>
        <p:spPr>
          <a:xfrm>
            <a:off x="7588594" y="4799525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IMAGENES</a:t>
            </a:r>
            <a:endParaRPr lang="es-PE" dirty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C61E04F6-09A2-EE04-B7A5-6C8C5EC76442}"/>
              </a:ext>
            </a:extLst>
          </p:cNvPr>
          <p:cNvSpPr/>
          <p:nvPr/>
        </p:nvSpPr>
        <p:spPr>
          <a:xfrm>
            <a:off x="3907123" y="5364952"/>
            <a:ext cx="3473703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ACTIVO</a:t>
            </a:r>
            <a:endParaRPr lang="es-PE" dirty="0"/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85F2D777-F5BE-FBAD-25EA-3810FFA184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5981"/>
          <a:stretch/>
        </p:blipFill>
        <p:spPr>
          <a:xfrm>
            <a:off x="366729" y="5328008"/>
            <a:ext cx="3229946" cy="509484"/>
          </a:xfrm>
          <a:prstGeom prst="rect">
            <a:avLst/>
          </a:prstGeom>
        </p:spPr>
      </p:pic>
      <p:sp>
        <p:nvSpPr>
          <p:cNvPr id="53" name="Rectángulo 52">
            <a:extLst>
              <a:ext uri="{FF2B5EF4-FFF2-40B4-BE49-F238E27FC236}">
                <a16:creationId xmlns:a16="http://schemas.microsoft.com/office/drawing/2014/main" id="{3ABC86AA-EBC1-1502-7971-2700EB358842}"/>
              </a:ext>
            </a:extLst>
          </p:cNvPr>
          <p:cNvSpPr/>
          <p:nvPr/>
        </p:nvSpPr>
        <p:spPr>
          <a:xfrm>
            <a:off x="319339" y="5365734"/>
            <a:ext cx="2630750" cy="40969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VULNERABILIDAD</a:t>
            </a:r>
            <a:endParaRPr lang="es-PE" dirty="0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8407EA90-B787-2B5A-67A8-28E9017FC5E5}"/>
              </a:ext>
            </a:extLst>
          </p:cNvPr>
          <p:cNvSpPr/>
          <p:nvPr/>
        </p:nvSpPr>
        <p:spPr>
          <a:xfrm>
            <a:off x="7555799" y="5345463"/>
            <a:ext cx="4461229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CARGAR IMAGENES</a:t>
            </a:r>
            <a:endParaRPr lang="es-PE" dirty="0"/>
          </a:p>
        </p:txBody>
      </p:sp>
      <p:pic>
        <p:nvPicPr>
          <p:cNvPr id="56" name="Imagen 55">
            <a:extLst>
              <a:ext uri="{FF2B5EF4-FFF2-40B4-BE49-F238E27FC236}">
                <a16:creationId xmlns:a16="http://schemas.microsoft.com/office/drawing/2014/main" id="{9061106B-950B-3CB5-C944-93EFBBE044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8268" y="210849"/>
            <a:ext cx="1009650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70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6EBA6-663F-40F1-D24C-3C7293A96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7A89E26-45E9-5A97-26B6-5652ADC366A1}"/>
              </a:ext>
            </a:extLst>
          </p:cNvPr>
          <p:cNvSpPr/>
          <p:nvPr/>
        </p:nvSpPr>
        <p:spPr>
          <a:xfrm>
            <a:off x="107004" y="145915"/>
            <a:ext cx="12084996" cy="66439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1198AD4-2C55-0FB1-C939-91E93D5915CD}"/>
              </a:ext>
            </a:extLst>
          </p:cNvPr>
          <p:cNvSpPr txBox="1"/>
          <p:nvPr/>
        </p:nvSpPr>
        <p:spPr>
          <a:xfrm>
            <a:off x="10809190" y="1464695"/>
            <a:ext cx="1243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EJECUTOR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5522FEB-2580-76D1-B7D8-AE5532333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6602" y="167882"/>
            <a:ext cx="1028394" cy="115027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7AC8920F-9FF9-6745-C5D8-564C9D8DEB7A}"/>
              </a:ext>
            </a:extLst>
          </p:cNvPr>
          <p:cNvSpPr txBox="1"/>
          <p:nvPr/>
        </p:nvSpPr>
        <p:spPr>
          <a:xfrm>
            <a:off x="4318864" y="1207320"/>
            <a:ext cx="355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MANTENIMIENTO DE PROYECTOS</a:t>
            </a:r>
            <a:endParaRPr lang="es-PE" dirty="0"/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B1C442E4-DD46-1020-B4D8-CFA740DF3541}"/>
              </a:ext>
            </a:extLst>
          </p:cNvPr>
          <p:cNvGraphicFramePr>
            <a:graphicFrameLocks noGrp="1"/>
          </p:cNvGraphicFramePr>
          <p:nvPr/>
        </p:nvGraphicFramePr>
        <p:xfrm>
          <a:off x="107004" y="3153738"/>
          <a:ext cx="11948966" cy="3660997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08996">
                  <a:extLst>
                    <a:ext uri="{9D8B030D-6E8A-4147-A177-3AD203B41FA5}">
                      <a16:colId xmlns:a16="http://schemas.microsoft.com/office/drawing/2014/main" val="3053622161"/>
                    </a:ext>
                  </a:extLst>
                </a:gridCol>
                <a:gridCol w="802640">
                  <a:extLst>
                    <a:ext uri="{9D8B030D-6E8A-4147-A177-3AD203B41FA5}">
                      <a16:colId xmlns:a16="http://schemas.microsoft.com/office/drawing/2014/main" val="491144692"/>
                    </a:ext>
                  </a:extLst>
                </a:gridCol>
                <a:gridCol w="782320">
                  <a:extLst>
                    <a:ext uri="{9D8B030D-6E8A-4147-A177-3AD203B41FA5}">
                      <a16:colId xmlns:a16="http://schemas.microsoft.com/office/drawing/2014/main" val="2729298803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6940447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1884526593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957674542"/>
                    </a:ext>
                  </a:extLst>
                </a:gridCol>
                <a:gridCol w="606385">
                  <a:extLst>
                    <a:ext uri="{9D8B030D-6E8A-4147-A177-3AD203B41FA5}">
                      <a16:colId xmlns:a16="http://schemas.microsoft.com/office/drawing/2014/main" val="3496397084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3172522512"/>
                    </a:ext>
                  </a:extLst>
                </a:gridCol>
                <a:gridCol w="706056">
                  <a:extLst>
                    <a:ext uri="{9D8B030D-6E8A-4147-A177-3AD203B41FA5}">
                      <a16:colId xmlns:a16="http://schemas.microsoft.com/office/drawing/2014/main" val="3010072222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2384113708"/>
                    </a:ext>
                  </a:extLst>
                </a:gridCol>
                <a:gridCol w="891251">
                  <a:extLst>
                    <a:ext uri="{9D8B030D-6E8A-4147-A177-3AD203B41FA5}">
                      <a16:colId xmlns:a16="http://schemas.microsoft.com/office/drawing/2014/main" val="883317745"/>
                    </a:ext>
                  </a:extLst>
                </a:gridCol>
                <a:gridCol w="960699">
                  <a:extLst>
                    <a:ext uri="{9D8B030D-6E8A-4147-A177-3AD203B41FA5}">
                      <a16:colId xmlns:a16="http://schemas.microsoft.com/office/drawing/2014/main" val="3002795293"/>
                    </a:ext>
                  </a:extLst>
                </a:gridCol>
                <a:gridCol w="856526">
                  <a:extLst>
                    <a:ext uri="{9D8B030D-6E8A-4147-A177-3AD203B41FA5}">
                      <a16:colId xmlns:a16="http://schemas.microsoft.com/office/drawing/2014/main" val="593911267"/>
                    </a:ext>
                  </a:extLst>
                </a:gridCol>
                <a:gridCol w="894613">
                  <a:extLst>
                    <a:ext uri="{9D8B030D-6E8A-4147-A177-3AD203B41FA5}">
                      <a16:colId xmlns:a16="http://schemas.microsoft.com/office/drawing/2014/main" val="106531747"/>
                    </a:ext>
                  </a:extLst>
                </a:gridCol>
                <a:gridCol w="894613">
                  <a:extLst>
                    <a:ext uri="{9D8B030D-6E8A-4147-A177-3AD203B41FA5}">
                      <a16:colId xmlns:a16="http://schemas.microsoft.com/office/drawing/2014/main" val="2017209504"/>
                    </a:ext>
                  </a:extLst>
                </a:gridCol>
              </a:tblGrid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CODIGO DE AUDITORIA DE PROYECTO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NOMBRE PROYECTO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CLIENTE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 EJE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ORIG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TIPO PRUEBA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DE REGISTRO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ESTADO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EN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               </a:t>
                      </a: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FECHA Y HORA TERMINO VALIDACION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FECHA Y HORA EN “POR EJECUTAR”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FECHA Y PROGRAMADO A EJECUTAR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r>
                        <a:rPr lang="es-ES" sz="900" dirty="0"/>
                        <a:t>     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CANT DIAS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MANTENIMIENTO</a:t>
                      </a:r>
                      <a:endParaRPr lang="es-PE" sz="900" dirty="0"/>
                    </a:p>
                    <a:p>
                      <a:endParaRPr lang="es-P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531107"/>
                  </a:ext>
                </a:extLst>
              </a:tr>
              <a:tr h="670290"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ORQUESTADOR DE CLAVES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BANCA SERVICIAL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GRIS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POST-AUTH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INTERNO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2024-12-01 15:20:00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POR EJECUTAR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2024-12-05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2024-12-08 10:20:00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2024-12-09 09:00:00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2</a:t>
                      </a:r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60469"/>
                  </a:ext>
                </a:extLst>
              </a:tr>
              <a:tr h="8618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FIRMA DIGITAL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REDONDA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2024-12-02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VALIDADO DEPENDE CLIENTE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2024-12-06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2024-12-07 10:30:00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67019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2024-12-EH-CLIENTE-ESC-NOMBRE-01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BENEFICIARIOS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MINERA ESTALAGMITA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CAJA NEGRA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PRE-AUTH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EXTERNO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900" dirty="0"/>
                        <a:t>MANUALES Y AUTOMATICAS</a:t>
                      </a:r>
                      <a:endParaRPr lang="es-P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2024-12-10 16:10:00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  <a:p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>
                          <a:highlight>
                            <a:srgbClr val="00FF00"/>
                          </a:highlight>
                        </a:rPr>
                        <a:t>CREADO</a:t>
                      </a: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9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371487"/>
                  </a:ext>
                </a:extLst>
              </a:tr>
              <a:tr h="574426"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232462"/>
                  </a:ext>
                </a:extLst>
              </a:tr>
            </a:tbl>
          </a:graphicData>
        </a:graphic>
      </p:graphicFrame>
      <p:sp>
        <p:nvSpPr>
          <p:cNvPr id="24" name="Rectángulo 23">
            <a:extLst>
              <a:ext uri="{FF2B5EF4-FFF2-40B4-BE49-F238E27FC236}">
                <a16:creationId xmlns:a16="http://schemas.microsoft.com/office/drawing/2014/main" id="{9099596E-1FC5-0CFD-41B9-08C5FD441847}"/>
              </a:ext>
            </a:extLst>
          </p:cNvPr>
          <p:cNvSpPr/>
          <p:nvPr/>
        </p:nvSpPr>
        <p:spPr>
          <a:xfrm>
            <a:off x="9066687" y="2622570"/>
            <a:ext cx="2659110" cy="414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REGISTRAR PROYECTOS</a:t>
            </a:r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637BFA3-2CC5-A387-B9FB-A6E8D00A30C3}"/>
              </a:ext>
            </a:extLst>
          </p:cNvPr>
          <p:cNvSpPr/>
          <p:nvPr/>
        </p:nvSpPr>
        <p:spPr>
          <a:xfrm>
            <a:off x="-2488557" y="2791010"/>
            <a:ext cx="2488557" cy="4912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AUTOGENERADO   - &gt;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923A16-6832-B614-9E86-4531AFBD8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1332" y="197127"/>
            <a:ext cx="990600" cy="1143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1084ACF-240B-6875-FC33-DCC3B7613FCA}"/>
              </a:ext>
            </a:extLst>
          </p:cNvPr>
          <p:cNvSpPr/>
          <p:nvPr/>
        </p:nvSpPr>
        <p:spPr>
          <a:xfrm>
            <a:off x="11927840" y="3932239"/>
            <a:ext cx="250048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CC3C94C-2309-F7AC-9765-2B2A1565AD67}"/>
              </a:ext>
            </a:extLst>
          </p:cNvPr>
          <p:cNvSpPr/>
          <p:nvPr/>
        </p:nvSpPr>
        <p:spPr>
          <a:xfrm>
            <a:off x="11105349" y="3932239"/>
            <a:ext cx="250047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V</a:t>
            </a:r>
            <a:endParaRPr lang="es-PE" sz="12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78DBDB1-B700-C497-C7B2-5CB730ED5530}"/>
              </a:ext>
            </a:extLst>
          </p:cNvPr>
          <p:cNvSpPr/>
          <p:nvPr/>
        </p:nvSpPr>
        <p:spPr>
          <a:xfrm>
            <a:off x="11365055" y="3930833"/>
            <a:ext cx="292979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A8F2175-DCE1-C858-887C-8D3EE1AB1E5A}"/>
              </a:ext>
            </a:extLst>
          </p:cNvPr>
          <p:cNvSpPr/>
          <p:nvPr/>
        </p:nvSpPr>
        <p:spPr>
          <a:xfrm>
            <a:off x="11667040" y="3930833"/>
            <a:ext cx="2500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</a:t>
            </a:r>
            <a:endParaRPr lang="es-PE" sz="12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088DF93-904F-D087-4F6D-9BE7C57E3ED6}"/>
              </a:ext>
            </a:extLst>
          </p:cNvPr>
          <p:cNvSpPr/>
          <p:nvPr/>
        </p:nvSpPr>
        <p:spPr>
          <a:xfrm>
            <a:off x="10421706" y="3931062"/>
            <a:ext cx="250046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</a:t>
            </a:r>
            <a:endParaRPr lang="es-PE" sz="12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6D43B81-6DD1-5FDF-AA8D-30612C6D1554}"/>
              </a:ext>
            </a:extLst>
          </p:cNvPr>
          <p:cNvSpPr/>
          <p:nvPr/>
        </p:nvSpPr>
        <p:spPr>
          <a:xfrm>
            <a:off x="10692145" y="3926969"/>
            <a:ext cx="394038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CS</a:t>
            </a:r>
            <a:endParaRPr lang="es-PE" sz="12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D23026E-5202-B24B-D6BE-065D25B0627A}"/>
              </a:ext>
            </a:extLst>
          </p:cNvPr>
          <p:cNvSpPr/>
          <p:nvPr/>
        </p:nvSpPr>
        <p:spPr>
          <a:xfrm>
            <a:off x="11954369" y="4729883"/>
            <a:ext cx="250048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3B907C8-B467-007B-D5AD-CA610216F114}"/>
              </a:ext>
            </a:extLst>
          </p:cNvPr>
          <p:cNvSpPr/>
          <p:nvPr/>
        </p:nvSpPr>
        <p:spPr>
          <a:xfrm>
            <a:off x="11131878" y="4729883"/>
            <a:ext cx="250047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V</a:t>
            </a:r>
            <a:endParaRPr lang="es-PE" sz="120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F9DA81F-1914-E99E-F564-15D1740EA801}"/>
              </a:ext>
            </a:extLst>
          </p:cNvPr>
          <p:cNvSpPr/>
          <p:nvPr/>
        </p:nvSpPr>
        <p:spPr>
          <a:xfrm>
            <a:off x="11391584" y="4728477"/>
            <a:ext cx="292979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0643314-FC3A-CB84-AC19-3D3EB7558A53}"/>
              </a:ext>
            </a:extLst>
          </p:cNvPr>
          <p:cNvSpPr/>
          <p:nvPr/>
        </p:nvSpPr>
        <p:spPr>
          <a:xfrm>
            <a:off x="11693569" y="4728477"/>
            <a:ext cx="2500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</a:t>
            </a:r>
            <a:endParaRPr lang="es-PE" sz="12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873A3FC-FBB1-C877-65C0-CF3F43E66D38}"/>
              </a:ext>
            </a:extLst>
          </p:cNvPr>
          <p:cNvSpPr/>
          <p:nvPr/>
        </p:nvSpPr>
        <p:spPr>
          <a:xfrm>
            <a:off x="10448235" y="4728706"/>
            <a:ext cx="250046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</a:t>
            </a:r>
            <a:endParaRPr lang="es-PE" sz="12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00B0921-87A0-866D-0FCF-4E2BEBE537B4}"/>
              </a:ext>
            </a:extLst>
          </p:cNvPr>
          <p:cNvSpPr/>
          <p:nvPr/>
        </p:nvSpPr>
        <p:spPr>
          <a:xfrm>
            <a:off x="10718674" y="4724613"/>
            <a:ext cx="394038" cy="41933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CS</a:t>
            </a:r>
            <a:endParaRPr lang="es-PE" sz="1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766F44D-BDF6-0E65-3EE3-1C0CB51877B1}"/>
              </a:ext>
            </a:extLst>
          </p:cNvPr>
          <p:cNvSpPr/>
          <p:nvPr/>
        </p:nvSpPr>
        <p:spPr>
          <a:xfrm>
            <a:off x="11935203" y="5440948"/>
            <a:ext cx="250048" cy="4140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2C1BF13-BB1D-A9BC-E2E8-C7AD5B19F100}"/>
              </a:ext>
            </a:extLst>
          </p:cNvPr>
          <p:cNvSpPr/>
          <p:nvPr/>
        </p:nvSpPr>
        <p:spPr>
          <a:xfrm>
            <a:off x="11112712" y="5440948"/>
            <a:ext cx="250047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V</a:t>
            </a:r>
            <a:endParaRPr lang="es-PE" sz="1200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5C1E3CF-517A-4654-C6ED-ADBC8E3DB0A8}"/>
              </a:ext>
            </a:extLst>
          </p:cNvPr>
          <p:cNvSpPr/>
          <p:nvPr/>
        </p:nvSpPr>
        <p:spPr>
          <a:xfrm>
            <a:off x="11372418" y="5439542"/>
            <a:ext cx="292979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E</a:t>
            </a:r>
            <a:endParaRPr lang="es-PE" sz="12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F59F2D9-6EC4-1FAB-2465-663FD1663CF5}"/>
              </a:ext>
            </a:extLst>
          </p:cNvPr>
          <p:cNvSpPr/>
          <p:nvPr/>
        </p:nvSpPr>
        <p:spPr>
          <a:xfrm>
            <a:off x="11674403" y="5439542"/>
            <a:ext cx="25004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D</a:t>
            </a:r>
            <a:endParaRPr lang="es-PE" sz="12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974A170-6735-196B-7641-6E628B77AE03}"/>
              </a:ext>
            </a:extLst>
          </p:cNvPr>
          <p:cNvSpPr/>
          <p:nvPr/>
        </p:nvSpPr>
        <p:spPr>
          <a:xfrm>
            <a:off x="10429069" y="5439771"/>
            <a:ext cx="250046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</a:t>
            </a:r>
            <a:endParaRPr lang="es-PE" sz="12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E4D83F6-F021-82F6-EBC6-2DC13D0B8DD7}"/>
              </a:ext>
            </a:extLst>
          </p:cNvPr>
          <p:cNvSpPr/>
          <p:nvPr/>
        </p:nvSpPr>
        <p:spPr>
          <a:xfrm>
            <a:off x="10699508" y="5435678"/>
            <a:ext cx="394038" cy="4193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CS</a:t>
            </a:r>
            <a:endParaRPr lang="es-PE" sz="1200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CA79858E-7C83-2A0F-269D-9575135EF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8258" y="167882"/>
            <a:ext cx="1028394" cy="115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7608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1717</Words>
  <Application>Microsoft Office PowerPoint</Application>
  <PresentationFormat>Panorámica</PresentationFormat>
  <Paragraphs>888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Brayan Brando Rodriguez Padilla</dc:creator>
  <cp:lastModifiedBy>Brayan Brando Rodriguez Padilla</cp:lastModifiedBy>
  <cp:revision>2</cp:revision>
  <dcterms:created xsi:type="dcterms:W3CDTF">2025-01-23T23:54:42Z</dcterms:created>
  <dcterms:modified xsi:type="dcterms:W3CDTF">2025-01-24T04:45:06Z</dcterms:modified>
</cp:coreProperties>
</file>